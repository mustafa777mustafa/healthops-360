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legraf" charset="1" panose="00000500000000000000"/>
      <p:regular r:id="rId17"/>
    </p:embeddedFont>
    <p:embeddedFont>
      <p:font typeface="Telegraf Bold" charset="1" panose="00000800000000000000"/>
      <p:regular r:id="rId18"/>
    </p:embeddedFont>
    <p:embeddedFont>
      <p:font typeface="HK Grotesk Bold" charset="1" panose="00000800000000000000"/>
      <p:regular r:id="rId19"/>
    </p:embeddedFont>
    <p:embeddedFont>
      <p:font typeface="HK Grotesk" charset="1" panose="00000500000000000000"/>
      <p:regular r:id="rId20"/>
    </p:embeddedFont>
    <p:embeddedFont>
      <p:font typeface="Noto Serif Display ExtraCondensed Light" charset="1" panose="02020406080505020204"/>
      <p:regular r:id="rId21"/>
    </p:embeddedFont>
    <p:embeddedFont>
      <p:font typeface="HK Grotesk Semi-Bold" charset="1" panose="000007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18" Target="../media/image4.png" Type="http://schemas.openxmlformats.org/officeDocument/2006/relationships/image"/><Relationship Id="rId19" Target="../media/image6.png" Type="http://schemas.openxmlformats.org/officeDocument/2006/relationships/image"/><Relationship Id="rId2" Target="../media/image9.png" Type="http://schemas.openxmlformats.org/officeDocument/2006/relationships/image"/><Relationship Id="rId20" Target="../media/image7.sv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4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4.pn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37.jpeg" Type="http://schemas.openxmlformats.org/officeDocument/2006/relationships/image"/><Relationship Id="rId4" Target="../media/image38.jpe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https://github.com/mustafa777mustafa/Healthcare-Data-Analysis-Projec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EFC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1677" y="611978"/>
            <a:ext cx="7524241" cy="9286219"/>
            <a:chOff x="0" y="0"/>
            <a:chExt cx="1437645" cy="17743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7645" cy="1774303"/>
            </a:xfrm>
            <a:custGeom>
              <a:avLst/>
              <a:gdLst/>
              <a:ahLst/>
              <a:cxnLst/>
              <a:rect r="r" b="b" t="t" l="l"/>
              <a:pathLst>
                <a:path h="1774303" w="1437645">
                  <a:moveTo>
                    <a:pt x="36013" y="0"/>
                  </a:moveTo>
                  <a:lnTo>
                    <a:pt x="1401632" y="0"/>
                  </a:lnTo>
                  <a:cubicBezTo>
                    <a:pt x="1411183" y="0"/>
                    <a:pt x="1420343" y="3794"/>
                    <a:pt x="1427097" y="10548"/>
                  </a:cubicBezTo>
                  <a:cubicBezTo>
                    <a:pt x="1433851" y="17302"/>
                    <a:pt x="1437645" y="26461"/>
                    <a:pt x="1437645" y="36013"/>
                  </a:cubicBezTo>
                  <a:lnTo>
                    <a:pt x="1437645" y="1738290"/>
                  </a:lnTo>
                  <a:cubicBezTo>
                    <a:pt x="1437645" y="1747842"/>
                    <a:pt x="1433851" y="1757001"/>
                    <a:pt x="1427097" y="1763755"/>
                  </a:cubicBezTo>
                  <a:cubicBezTo>
                    <a:pt x="1420343" y="1770509"/>
                    <a:pt x="1411183" y="1774303"/>
                    <a:pt x="1401632" y="1774303"/>
                  </a:cubicBezTo>
                  <a:lnTo>
                    <a:pt x="36013" y="1774303"/>
                  </a:lnTo>
                  <a:cubicBezTo>
                    <a:pt x="26461" y="1774303"/>
                    <a:pt x="17302" y="1770509"/>
                    <a:pt x="10548" y="1763755"/>
                  </a:cubicBezTo>
                  <a:cubicBezTo>
                    <a:pt x="3794" y="1757001"/>
                    <a:pt x="0" y="1747842"/>
                    <a:pt x="0" y="1738290"/>
                  </a:cubicBezTo>
                  <a:lnTo>
                    <a:pt x="0" y="36013"/>
                  </a:lnTo>
                  <a:cubicBezTo>
                    <a:pt x="0" y="26461"/>
                    <a:pt x="3794" y="17302"/>
                    <a:pt x="10548" y="10548"/>
                  </a:cubicBezTo>
                  <a:cubicBezTo>
                    <a:pt x="17302" y="3794"/>
                    <a:pt x="26461" y="0"/>
                    <a:pt x="36013" y="0"/>
                  </a:cubicBezTo>
                  <a:close/>
                </a:path>
              </a:pathLst>
            </a:custGeom>
            <a:blipFill>
              <a:blip r:embed="rId2"/>
              <a:stretch>
                <a:fillRect l="-12807" t="0" r="-12807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58556" y="755019"/>
            <a:ext cx="2972041" cy="934407"/>
            <a:chOff x="0" y="0"/>
            <a:chExt cx="2913001" cy="9158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13001" cy="915845"/>
            </a:xfrm>
            <a:custGeom>
              <a:avLst/>
              <a:gdLst/>
              <a:ahLst/>
              <a:cxnLst/>
              <a:rect r="r" b="b" t="t" l="l"/>
              <a:pathLst>
                <a:path h="915845" w="2913001">
                  <a:moveTo>
                    <a:pt x="91172" y="0"/>
                  </a:moveTo>
                  <a:lnTo>
                    <a:pt x="2821829" y="0"/>
                  </a:lnTo>
                  <a:cubicBezTo>
                    <a:pt x="2846009" y="0"/>
                    <a:pt x="2869199" y="9606"/>
                    <a:pt x="2886297" y="26704"/>
                  </a:cubicBezTo>
                  <a:cubicBezTo>
                    <a:pt x="2903395" y="43802"/>
                    <a:pt x="2913001" y="66992"/>
                    <a:pt x="2913001" y="91172"/>
                  </a:cubicBezTo>
                  <a:lnTo>
                    <a:pt x="2913001" y="824673"/>
                  </a:lnTo>
                  <a:cubicBezTo>
                    <a:pt x="2913001" y="848853"/>
                    <a:pt x="2903395" y="872043"/>
                    <a:pt x="2886297" y="889141"/>
                  </a:cubicBezTo>
                  <a:cubicBezTo>
                    <a:pt x="2869199" y="906239"/>
                    <a:pt x="2846009" y="915845"/>
                    <a:pt x="2821829" y="915845"/>
                  </a:cubicBezTo>
                  <a:lnTo>
                    <a:pt x="91172" y="915845"/>
                  </a:lnTo>
                  <a:cubicBezTo>
                    <a:pt x="66992" y="915845"/>
                    <a:pt x="43802" y="906239"/>
                    <a:pt x="26704" y="889141"/>
                  </a:cubicBezTo>
                  <a:cubicBezTo>
                    <a:pt x="9606" y="872043"/>
                    <a:pt x="0" y="848853"/>
                    <a:pt x="0" y="824673"/>
                  </a:cubicBezTo>
                  <a:lnTo>
                    <a:pt x="0" y="91172"/>
                  </a:lnTo>
                  <a:cubicBezTo>
                    <a:pt x="0" y="66992"/>
                    <a:pt x="9606" y="43802"/>
                    <a:pt x="26704" y="26704"/>
                  </a:cubicBezTo>
                  <a:cubicBezTo>
                    <a:pt x="43802" y="9606"/>
                    <a:pt x="66992" y="0"/>
                    <a:pt x="91172" y="0"/>
                  </a:cubicBezTo>
                  <a:close/>
                </a:path>
              </a:pathLst>
            </a:custGeom>
            <a:blipFill>
              <a:blip r:embed="rId3"/>
              <a:stretch>
                <a:fillRect l="-1214" t="0" r="-1214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962604" y="298614"/>
            <a:ext cx="2025603" cy="1847216"/>
            <a:chOff x="0" y="0"/>
            <a:chExt cx="2444952" cy="22296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4952" cy="2229635"/>
            </a:xfrm>
            <a:custGeom>
              <a:avLst/>
              <a:gdLst/>
              <a:ahLst/>
              <a:cxnLst/>
              <a:rect r="r" b="b" t="t" l="l"/>
              <a:pathLst>
                <a:path h="2229635" w="2444952">
                  <a:moveTo>
                    <a:pt x="133771" y="0"/>
                  </a:moveTo>
                  <a:lnTo>
                    <a:pt x="2311181" y="0"/>
                  </a:lnTo>
                  <a:cubicBezTo>
                    <a:pt x="2346659" y="0"/>
                    <a:pt x="2380684" y="14094"/>
                    <a:pt x="2405771" y="39181"/>
                  </a:cubicBezTo>
                  <a:cubicBezTo>
                    <a:pt x="2430858" y="64268"/>
                    <a:pt x="2444952" y="98293"/>
                    <a:pt x="2444952" y="133771"/>
                  </a:cubicBezTo>
                  <a:lnTo>
                    <a:pt x="2444952" y="2095864"/>
                  </a:lnTo>
                  <a:cubicBezTo>
                    <a:pt x="2444952" y="2169744"/>
                    <a:pt x="2385061" y="2229635"/>
                    <a:pt x="2311181" y="2229635"/>
                  </a:cubicBezTo>
                  <a:lnTo>
                    <a:pt x="133771" y="2229635"/>
                  </a:lnTo>
                  <a:cubicBezTo>
                    <a:pt x="98293" y="2229635"/>
                    <a:pt x="64268" y="2215542"/>
                    <a:pt x="39181" y="2190455"/>
                  </a:cubicBezTo>
                  <a:cubicBezTo>
                    <a:pt x="14094" y="2165368"/>
                    <a:pt x="0" y="2131343"/>
                    <a:pt x="0" y="2095864"/>
                  </a:cubicBezTo>
                  <a:lnTo>
                    <a:pt x="0" y="133771"/>
                  </a:lnTo>
                  <a:cubicBezTo>
                    <a:pt x="0" y="98293"/>
                    <a:pt x="14094" y="64268"/>
                    <a:pt x="39181" y="39181"/>
                  </a:cubicBezTo>
                  <a:cubicBezTo>
                    <a:pt x="64268" y="14094"/>
                    <a:pt x="98293" y="0"/>
                    <a:pt x="13377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42" r="0" b="-342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366699" y="4800539"/>
            <a:ext cx="8324850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</a:pPr>
            <a:r>
              <a:rPr lang="en-US" sz="2999" spc="-29">
                <a:solidFill>
                  <a:srgbClr val="FEFCF8"/>
                </a:solidFill>
                <a:latin typeface="Telegraf"/>
                <a:ea typeface="Telegraf"/>
                <a:cs typeface="Telegraf"/>
                <a:sym typeface="Telegraf"/>
              </a:rPr>
              <a:t>Presented by </a:t>
            </a:r>
          </a:p>
          <a:p>
            <a:pPr algn="l" marL="647697" indent="-323848" lvl="1">
              <a:lnSpc>
                <a:spcPts val="3299"/>
              </a:lnSpc>
              <a:buFont typeface="Arial"/>
              <a:buChar char="•"/>
            </a:pPr>
            <a:r>
              <a:rPr lang="en-US" sz="2999" spc="-29">
                <a:solidFill>
                  <a:srgbClr val="FEFCF8"/>
                </a:solidFill>
                <a:latin typeface="Telegraf"/>
                <a:ea typeface="Telegraf"/>
                <a:cs typeface="Telegraf"/>
                <a:sym typeface="Telegraf"/>
              </a:rPr>
              <a:t>Mohamed Mahmoud Farouk Abouzeid</a:t>
            </a:r>
          </a:p>
          <a:p>
            <a:pPr algn="l" marL="647697" indent="-323848" lvl="1">
              <a:lnSpc>
                <a:spcPts val="3299"/>
              </a:lnSpc>
              <a:buFont typeface="Arial"/>
              <a:buChar char="•"/>
            </a:pPr>
            <a:r>
              <a:rPr lang="en-US" sz="2999" spc="-29">
                <a:solidFill>
                  <a:srgbClr val="FEFCF8"/>
                </a:solidFill>
                <a:latin typeface="Telegraf"/>
                <a:ea typeface="Telegraf"/>
                <a:cs typeface="Telegraf"/>
                <a:sym typeface="Telegraf"/>
              </a:rPr>
              <a:t>Safa Ahmed Salah Khamis</a:t>
            </a:r>
          </a:p>
          <a:p>
            <a:pPr algn="l" marL="647697" indent="-323848" lvl="1">
              <a:lnSpc>
                <a:spcPts val="3299"/>
              </a:lnSpc>
              <a:buFont typeface="Arial"/>
              <a:buChar char="•"/>
            </a:pPr>
            <a:r>
              <a:rPr lang="en-US" sz="2999" spc="-29">
                <a:solidFill>
                  <a:srgbClr val="FEFCF8"/>
                </a:solidFill>
                <a:latin typeface="Telegraf"/>
                <a:ea typeface="Telegraf"/>
                <a:cs typeface="Telegraf"/>
                <a:sym typeface="Telegraf"/>
              </a:rPr>
              <a:t>Hajar Mohamed Hamed El-Feki</a:t>
            </a:r>
          </a:p>
          <a:p>
            <a:pPr algn="l" marL="647697" indent="-323848" lvl="1">
              <a:lnSpc>
                <a:spcPts val="3299"/>
              </a:lnSpc>
              <a:buFont typeface="Arial"/>
              <a:buChar char="•"/>
            </a:pPr>
            <a:r>
              <a:rPr lang="en-US" sz="2999" spc="-29">
                <a:solidFill>
                  <a:srgbClr val="FEFCF8"/>
                </a:solidFill>
                <a:latin typeface="Telegraf"/>
                <a:ea typeface="Telegraf"/>
                <a:cs typeface="Telegraf"/>
                <a:sym typeface="Telegraf"/>
              </a:rPr>
              <a:t>Ahmed Ragab Abdallah El-Sayed</a:t>
            </a:r>
          </a:p>
          <a:p>
            <a:pPr algn="l" marL="647697" indent="-323848" lvl="1">
              <a:lnSpc>
                <a:spcPts val="3299"/>
              </a:lnSpc>
              <a:buFont typeface="Arial"/>
              <a:buChar char="•"/>
            </a:pPr>
            <a:r>
              <a:rPr lang="en-US" sz="2999" spc="-29">
                <a:solidFill>
                  <a:srgbClr val="FEFCF8"/>
                </a:solidFill>
                <a:latin typeface="Telegraf"/>
                <a:ea typeface="Telegraf"/>
                <a:cs typeface="Telegraf"/>
                <a:sym typeface="Telegraf"/>
              </a:rPr>
              <a:t>Hossam El-Din Refaat Mohamed Sayed </a:t>
            </a:r>
          </a:p>
          <a:p>
            <a:pPr algn="l" marL="647697" indent="-323848" lvl="1">
              <a:lnSpc>
                <a:spcPts val="3299"/>
              </a:lnSpc>
              <a:buFont typeface="Arial"/>
              <a:buChar char="•"/>
            </a:pPr>
            <a:r>
              <a:rPr lang="en-US" sz="2999" spc="-29">
                <a:solidFill>
                  <a:srgbClr val="FEFCF8"/>
                </a:solidFill>
                <a:latin typeface="Telegraf"/>
                <a:ea typeface="Telegraf"/>
                <a:cs typeface="Telegraf"/>
                <a:sym typeface="Telegraf"/>
              </a:rPr>
              <a:t>Mostafa Karem Mahmoud Ali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66699" y="3138140"/>
            <a:ext cx="8892601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b="true" sz="9000" spc="-89">
                <a:solidFill>
                  <a:srgbClr val="FEFCF8"/>
                </a:solidFill>
                <a:latin typeface="Telegraf Bold"/>
                <a:ea typeface="Telegraf Bold"/>
                <a:cs typeface="Telegraf Bold"/>
                <a:sym typeface="Telegraf Bold"/>
              </a:rPr>
              <a:t>H</a:t>
            </a:r>
            <a:r>
              <a:rPr lang="en-US" b="true" sz="9000" spc="-89">
                <a:solidFill>
                  <a:srgbClr val="FEFCF8"/>
                </a:solidFill>
                <a:latin typeface="Telegraf Bold"/>
                <a:ea typeface="Telegraf Bold"/>
                <a:cs typeface="Telegraf Bold"/>
                <a:sym typeface="Telegraf Bold"/>
              </a:rPr>
              <a:t>ealthOps 360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66699" y="8040579"/>
            <a:ext cx="832485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</a:pPr>
            <a:r>
              <a:rPr lang="en-US" sz="2999" spc="-29">
                <a:solidFill>
                  <a:srgbClr val="FEFCF8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999" spc="-29">
                <a:solidFill>
                  <a:srgbClr val="FEFCF8"/>
                </a:solidFill>
                <a:latin typeface="Telegraf"/>
                <a:ea typeface="Telegraf"/>
                <a:cs typeface="Telegraf"/>
                <a:sym typeface="Telegraf"/>
              </a:rPr>
              <a:t>nder supervision</a:t>
            </a:r>
          </a:p>
          <a:p>
            <a:pPr algn="l" marL="0" indent="0" lvl="0">
              <a:lnSpc>
                <a:spcPts val="3299"/>
              </a:lnSpc>
            </a:pPr>
            <a:r>
              <a:rPr lang="en-US" sz="2999" spc="-29">
                <a:solidFill>
                  <a:srgbClr val="FEFCF8"/>
                </a:solidFill>
                <a:latin typeface="Telegraf"/>
                <a:ea typeface="Telegraf"/>
                <a:cs typeface="Telegraf"/>
                <a:sym typeface="Telegraf"/>
              </a:rPr>
              <a:t>ENG.Sarah Besher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41350" y="9062497"/>
            <a:ext cx="125499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</a:pPr>
            <a:r>
              <a:rPr lang="en-US" sz="2999" spc="-29">
                <a:solidFill>
                  <a:srgbClr val="D7E6F9"/>
                </a:solidFill>
                <a:latin typeface="Telegraf"/>
                <a:ea typeface="Telegraf"/>
                <a:cs typeface="Telegraf"/>
                <a:sym typeface="Telegraf"/>
              </a:rPr>
              <a:t>2025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231731" y="1393683"/>
            <a:ext cx="2025603" cy="1847216"/>
            <a:chOff x="0" y="0"/>
            <a:chExt cx="2444952" cy="22296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4952" cy="2229635"/>
            </a:xfrm>
            <a:custGeom>
              <a:avLst/>
              <a:gdLst/>
              <a:ahLst/>
              <a:cxnLst/>
              <a:rect r="r" b="b" t="t" l="l"/>
              <a:pathLst>
                <a:path h="2229635" w="2444952">
                  <a:moveTo>
                    <a:pt x="133771" y="0"/>
                  </a:moveTo>
                  <a:lnTo>
                    <a:pt x="2311181" y="0"/>
                  </a:lnTo>
                  <a:cubicBezTo>
                    <a:pt x="2346659" y="0"/>
                    <a:pt x="2380684" y="14094"/>
                    <a:pt x="2405771" y="39181"/>
                  </a:cubicBezTo>
                  <a:cubicBezTo>
                    <a:pt x="2430858" y="64268"/>
                    <a:pt x="2444952" y="98293"/>
                    <a:pt x="2444952" y="133771"/>
                  </a:cubicBezTo>
                  <a:lnTo>
                    <a:pt x="2444952" y="2095864"/>
                  </a:lnTo>
                  <a:cubicBezTo>
                    <a:pt x="2444952" y="2169744"/>
                    <a:pt x="2385061" y="2229635"/>
                    <a:pt x="2311181" y="2229635"/>
                  </a:cubicBezTo>
                  <a:lnTo>
                    <a:pt x="133771" y="2229635"/>
                  </a:lnTo>
                  <a:cubicBezTo>
                    <a:pt x="98293" y="2229635"/>
                    <a:pt x="64268" y="2215542"/>
                    <a:pt x="39181" y="2190455"/>
                  </a:cubicBezTo>
                  <a:cubicBezTo>
                    <a:pt x="14094" y="2165368"/>
                    <a:pt x="0" y="2131343"/>
                    <a:pt x="0" y="2095864"/>
                  </a:cubicBezTo>
                  <a:lnTo>
                    <a:pt x="0" y="133771"/>
                  </a:lnTo>
                  <a:cubicBezTo>
                    <a:pt x="0" y="98293"/>
                    <a:pt x="14094" y="64268"/>
                    <a:pt x="39181" y="39181"/>
                  </a:cubicBezTo>
                  <a:cubicBezTo>
                    <a:pt x="64268" y="14094"/>
                    <a:pt x="98293" y="0"/>
                    <a:pt x="133771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828" r="0" b="-4828"/>
              </a:stretch>
            </a:blipFill>
            <a:ln cap="rnd">
              <a:noFill/>
              <a:prstDash val="solid"/>
              <a:round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10242" y="0"/>
            <a:ext cx="3990115" cy="10287000"/>
            <a:chOff x="0" y="0"/>
            <a:chExt cx="105089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08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50894">
                  <a:moveTo>
                    <a:pt x="194027" y="0"/>
                  </a:moveTo>
                  <a:lnTo>
                    <a:pt x="856867" y="0"/>
                  </a:lnTo>
                  <a:cubicBezTo>
                    <a:pt x="964025" y="0"/>
                    <a:pt x="1050894" y="86869"/>
                    <a:pt x="1050894" y="194027"/>
                  </a:cubicBezTo>
                  <a:lnTo>
                    <a:pt x="1050894" y="2515306"/>
                  </a:lnTo>
                  <a:cubicBezTo>
                    <a:pt x="1050894" y="2566765"/>
                    <a:pt x="1030452" y="2616117"/>
                    <a:pt x="994065" y="2652504"/>
                  </a:cubicBezTo>
                  <a:cubicBezTo>
                    <a:pt x="957678" y="2688891"/>
                    <a:pt x="908326" y="2709333"/>
                    <a:pt x="856867" y="2709333"/>
                  </a:cubicBezTo>
                  <a:lnTo>
                    <a:pt x="194027" y="2709333"/>
                  </a:lnTo>
                  <a:cubicBezTo>
                    <a:pt x="86869" y="2709333"/>
                    <a:pt x="0" y="2622464"/>
                    <a:pt x="0" y="2515306"/>
                  </a:cubicBezTo>
                  <a:lnTo>
                    <a:pt x="0" y="194027"/>
                  </a:lnTo>
                  <a:cubicBezTo>
                    <a:pt x="0" y="86869"/>
                    <a:pt x="86869" y="0"/>
                    <a:pt x="194027" y="0"/>
                  </a:cubicBezTo>
                  <a:close/>
                </a:path>
              </a:pathLst>
            </a:custGeom>
            <a:solidFill>
              <a:srgbClr val="A134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050894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79349" y="444202"/>
            <a:ext cx="8839200" cy="6360342"/>
            <a:chOff x="0" y="0"/>
            <a:chExt cx="1369423" cy="9853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9423" cy="985383"/>
            </a:xfrm>
            <a:custGeom>
              <a:avLst/>
              <a:gdLst/>
              <a:ahLst/>
              <a:cxnLst/>
              <a:rect r="r" b="b" t="t" l="l"/>
              <a:pathLst>
                <a:path h="985383" w="1369423">
                  <a:moveTo>
                    <a:pt x="30655" y="0"/>
                  </a:moveTo>
                  <a:lnTo>
                    <a:pt x="1338768" y="0"/>
                  </a:lnTo>
                  <a:cubicBezTo>
                    <a:pt x="1346899" y="0"/>
                    <a:pt x="1354696" y="3230"/>
                    <a:pt x="1360445" y="8979"/>
                  </a:cubicBezTo>
                  <a:cubicBezTo>
                    <a:pt x="1366194" y="14728"/>
                    <a:pt x="1369423" y="22525"/>
                    <a:pt x="1369423" y="30655"/>
                  </a:cubicBezTo>
                  <a:lnTo>
                    <a:pt x="1369423" y="954728"/>
                  </a:lnTo>
                  <a:cubicBezTo>
                    <a:pt x="1369423" y="962859"/>
                    <a:pt x="1366194" y="970656"/>
                    <a:pt x="1360445" y="976405"/>
                  </a:cubicBezTo>
                  <a:cubicBezTo>
                    <a:pt x="1354696" y="982154"/>
                    <a:pt x="1346899" y="985383"/>
                    <a:pt x="1338768" y="985383"/>
                  </a:cubicBezTo>
                  <a:lnTo>
                    <a:pt x="30655" y="985383"/>
                  </a:lnTo>
                  <a:cubicBezTo>
                    <a:pt x="22525" y="985383"/>
                    <a:pt x="14728" y="982154"/>
                    <a:pt x="8979" y="976405"/>
                  </a:cubicBezTo>
                  <a:cubicBezTo>
                    <a:pt x="3230" y="970656"/>
                    <a:pt x="0" y="962859"/>
                    <a:pt x="0" y="954728"/>
                  </a:cubicBezTo>
                  <a:lnTo>
                    <a:pt x="0" y="30655"/>
                  </a:lnTo>
                  <a:cubicBezTo>
                    <a:pt x="0" y="22525"/>
                    <a:pt x="3230" y="14728"/>
                    <a:pt x="8979" y="8979"/>
                  </a:cubicBezTo>
                  <a:cubicBezTo>
                    <a:pt x="14728" y="3230"/>
                    <a:pt x="22525" y="0"/>
                    <a:pt x="30655" y="0"/>
                  </a:cubicBezTo>
                  <a:close/>
                </a:path>
              </a:pathLst>
            </a:custGeom>
            <a:blipFill>
              <a:blip r:embed="rId2"/>
              <a:stretch>
                <a:fillRect l="-393" t="0" r="-46749" b="-60244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70297" y="1209043"/>
            <a:ext cx="9549597" cy="4169626"/>
            <a:chOff x="0" y="0"/>
            <a:chExt cx="12732796" cy="555950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206701"/>
              <a:ext cx="11813580" cy="335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Integrated Healthcare Data Analysis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 Unified Platform for Demographic, Clinical, and Financial Patient Data</a:t>
              </a:r>
            </a:p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Analysis of 55,500 Health Records</a:t>
              </a:r>
            </a:p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Proposed Model for the Egyptian Healthcare System</a:t>
              </a:r>
            </a:p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2025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90500"/>
              <a:ext cx="12732796" cy="1837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001"/>
                </a:lnSpc>
              </a:pPr>
              <a:r>
                <a:rPr lang="en-US" sz="10001" spc="-200">
                  <a:solidFill>
                    <a:srgbClr val="FEFCF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He</a:t>
              </a:r>
              <a:r>
                <a:rPr lang="en-US" sz="10001" spc="-200">
                  <a:solidFill>
                    <a:srgbClr val="FEFCF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althOps 360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0" y="6804544"/>
            <a:ext cx="8909898" cy="3343787"/>
            <a:chOff x="0" y="0"/>
            <a:chExt cx="2346640" cy="8806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6640" cy="880668"/>
            </a:xfrm>
            <a:custGeom>
              <a:avLst/>
              <a:gdLst/>
              <a:ahLst/>
              <a:cxnLst/>
              <a:rect r="r" b="b" t="t" l="l"/>
              <a:pathLst>
                <a:path h="880668" w="2346640">
                  <a:moveTo>
                    <a:pt x="30412" y="0"/>
                  </a:moveTo>
                  <a:lnTo>
                    <a:pt x="2316228" y="0"/>
                  </a:lnTo>
                  <a:cubicBezTo>
                    <a:pt x="2333024" y="0"/>
                    <a:pt x="2346640" y="13616"/>
                    <a:pt x="2346640" y="30412"/>
                  </a:cubicBezTo>
                  <a:lnTo>
                    <a:pt x="2346640" y="850256"/>
                  </a:lnTo>
                  <a:cubicBezTo>
                    <a:pt x="2346640" y="858322"/>
                    <a:pt x="2343436" y="866057"/>
                    <a:pt x="2337732" y="871761"/>
                  </a:cubicBezTo>
                  <a:cubicBezTo>
                    <a:pt x="2332029" y="877464"/>
                    <a:pt x="2324294" y="880668"/>
                    <a:pt x="2316228" y="880668"/>
                  </a:cubicBezTo>
                  <a:lnTo>
                    <a:pt x="30412" y="880668"/>
                  </a:lnTo>
                  <a:cubicBezTo>
                    <a:pt x="22346" y="880668"/>
                    <a:pt x="14611" y="877464"/>
                    <a:pt x="8907" y="871761"/>
                  </a:cubicBezTo>
                  <a:cubicBezTo>
                    <a:pt x="3204" y="866057"/>
                    <a:pt x="0" y="858322"/>
                    <a:pt x="0" y="850256"/>
                  </a:cubicBezTo>
                  <a:lnTo>
                    <a:pt x="0" y="30412"/>
                  </a:lnTo>
                  <a:cubicBezTo>
                    <a:pt x="0" y="22346"/>
                    <a:pt x="3204" y="14611"/>
                    <a:pt x="8907" y="8907"/>
                  </a:cubicBezTo>
                  <a:cubicBezTo>
                    <a:pt x="14611" y="3204"/>
                    <a:pt x="22346" y="0"/>
                    <a:pt x="304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346640" cy="880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35285" y="7127991"/>
            <a:ext cx="2551888" cy="2508184"/>
            <a:chOff x="0" y="0"/>
            <a:chExt cx="672102" cy="660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2102" cy="660592"/>
            </a:xfrm>
            <a:custGeom>
              <a:avLst/>
              <a:gdLst/>
              <a:ahLst/>
              <a:cxnLst/>
              <a:rect r="r" b="b" t="t" l="l"/>
              <a:pathLst>
                <a:path h="660592" w="672102">
                  <a:moveTo>
                    <a:pt x="154724" y="0"/>
                  </a:moveTo>
                  <a:lnTo>
                    <a:pt x="517378" y="0"/>
                  </a:lnTo>
                  <a:cubicBezTo>
                    <a:pt x="558414" y="0"/>
                    <a:pt x="597768" y="16301"/>
                    <a:pt x="626785" y="45318"/>
                  </a:cubicBezTo>
                  <a:cubicBezTo>
                    <a:pt x="655801" y="74334"/>
                    <a:pt x="672102" y="113689"/>
                    <a:pt x="672102" y="154724"/>
                  </a:cubicBezTo>
                  <a:lnTo>
                    <a:pt x="672102" y="505868"/>
                  </a:lnTo>
                  <a:cubicBezTo>
                    <a:pt x="672102" y="591320"/>
                    <a:pt x="602830" y="660592"/>
                    <a:pt x="517378" y="660592"/>
                  </a:cubicBezTo>
                  <a:lnTo>
                    <a:pt x="154724" y="660592"/>
                  </a:lnTo>
                  <a:cubicBezTo>
                    <a:pt x="113689" y="660592"/>
                    <a:pt x="74334" y="644291"/>
                    <a:pt x="45318" y="615274"/>
                  </a:cubicBezTo>
                  <a:cubicBezTo>
                    <a:pt x="16301" y="586258"/>
                    <a:pt x="0" y="546903"/>
                    <a:pt x="0" y="505868"/>
                  </a:cubicBezTo>
                  <a:lnTo>
                    <a:pt x="0" y="154724"/>
                  </a:lnTo>
                  <a:cubicBezTo>
                    <a:pt x="0" y="69272"/>
                    <a:pt x="69272" y="0"/>
                    <a:pt x="154724" y="0"/>
                  </a:cubicBezTo>
                  <a:close/>
                </a:path>
              </a:pathLst>
            </a:custGeom>
            <a:solidFill>
              <a:srgbClr val="FEFC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672102" cy="660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Soft Ivory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96400" y="7127991"/>
            <a:ext cx="2551888" cy="2508184"/>
            <a:chOff x="0" y="0"/>
            <a:chExt cx="672102" cy="660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2102" cy="660592"/>
            </a:xfrm>
            <a:custGeom>
              <a:avLst/>
              <a:gdLst/>
              <a:ahLst/>
              <a:cxnLst/>
              <a:rect r="r" b="b" t="t" l="l"/>
              <a:pathLst>
                <a:path h="660592" w="672102">
                  <a:moveTo>
                    <a:pt x="154724" y="0"/>
                  </a:moveTo>
                  <a:lnTo>
                    <a:pt x="517378" y="0"/>
                  </a:lnTo>
                  <a:cubicBezTo>
                    <a:pt x="558414" y="0"/>
                    <a:pt x="597768" y="16301"/>
                    <a:pt x="626785" y="45318"/>
                  </a:cubicBezTo>
                  <a:cubicBezTo>
                    <a:pt x="655801" y="74334"/>
                    <a:pt x="672102" y="113689"/>
                    <a:pt x="672102" y="154724"/>
                  </a:cubicBezTo>
                  <a:lnTo>
                    <a:pt x="672102" y="505868"/>
                  </a:lnTo>
                  <a:cubicBezTo>
                    <a:pt x="672102" y="591320"/>
                    <a:pt x="602830" y="660592"/>
                    <a:pt x="517378" y="660592"/>
                  </a:cubicBezTo>
                  <a:lnTo>
                    <a:pt x="154724" y="660592"/>
                  </a:lnTo>
                  <a:cubicBezTo>
                    <a:pt x="113689" y="660592"/>
                    <a:pt x="74334" y="644291"/>
                    <a:pt x="45318" y="615274"/>
                  </a:cubicBezTo>
                  <a:cubicBezTo>
                    <a:pt x="16301" y="586258"/>
                    <a:pt x="0" y="546903"/>
                    <a:pt x="0" y="505868"/>
                  </a:cubicBezTo>
                  <a:lnTo>
                    <a:pt x="0" y="154724"/>
                  </a:lnTo>
                  <a:cubicBezTo>
                    <a:pt x="0" y="69272"/>
                    <a:pt x="69272" y="0"/>
                    <a:pt x="154724" y="0"/>
                  </a:cubicBezTo>
                  <a:close/>
                </a:path>
              </a:pathLst>
            </a:custGeom>
            <a:solidFill>
              <a:srgbClr val="5A1D2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72102" cy="660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Crimson Red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58354" y="7127991"/>
            <a:ext cx="2551888" cy="2508184"/>
            <a:chOff x="0" y="0"/>
            <a:chExt cx="672102" cy="660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2102" cy="660592"/>
            </a:xfrm>
            <a:custGeom>
              <a:avLst/>
              <a:gdLst/>
              <a:ahLst/>
              <a:cxnLst/>
              <a:rect r="r" b="b" t="t" l="l"/>
              <a:pathLst>
                <a:path h="660592" w="672102">
                  <a:moveTo>
                    <a:pt x="154724" y="0"/>
                  </a:moveTo>
                  <a:lnTo>
                    <a:pt x="517378" y="0"/>
                  </a:lnTo>
                  <a:cubicBezTo>
                    <a:pt x="558414" y="0"/>
                    <a:pt x="597768" y="16301"/>
                    <a:pt x="626785" y="45318"/>
                  </a:cubicBezTo>
                  <a:cubicBezTo>
                    <a:pt x="655801" y="74334"/>
                    <a:pt x="672102" y="113689"/>
                    <a:pt x="672102" y="154724"/>
                  </a:cubicBezTo>
                  <a:lnTo>
                    <a:pt x="672102" y="505868"/>
                  </a:lnTo>
                  <a:cubicBezTo>
                    <a:pt x="672102" y="591320"/>
                    <a:pt x="602830" y="660592"/>
                    <a:pt x="517378" y="660592"/>
                  </a:cubicBezTo>
                  <a:lnTo>
                    <a:pt x="154724" y="660592"/>
                  </a:lnTo>
                  <a:cubicBezTo>
                    <a:pt x="113689" y="660592"/>
                    <a:pt x="74334" y="644291"/>
                    <a:pt x="45318" y="615274"/>
                  </a:cubicBezTo>
                  <a:cubicBezTo>
                    <a:pt x="16301" y="586258"/>
                    <a:pt x="0" y="546903"/>
                    <a:pt x="0" y="505868"/>
                  </a:cubicBezTo>
                  <a:lnTo>
                    <a:pt x="0" y="154724"/>
                  </a:lnTo>
                  <a:cubicBezTo>
                    <a:pt x="0" y="69272"/>
                    <a:pt x="69272" y="0"/>
                    <a:pt x="154724" y="0"/>
                  </a:cubicBezTo>
                  <a:close/>
                </a:path>
              </a:pathLst>
            </a:custGeom>
            <a:solidFill>
              <a:srgbClr val="DB636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72102" cy="660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Rose Blush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95944" y="5616626"/>
            <a:ext cx="6800701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b="true" sz="33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Project Identity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Crimson Red – #a1343c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Strength, decisiveness, professionalism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Highlights key insights, risks, recommendations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Rose Blush – #db636f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Human touch, connects data to patient care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Makes clinical info approachable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Soft Ivory – #fefcf8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Clean, neutral background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Enhances readability and emphasizes charts/results</a:t>
            </a:r>
          </a:p>
        </p:txBody>
      </p:sp>
      <p:sp>
        <p:nvSpPr>
          <p:cNvPr name="AutoShape 23" id="23"/>
          <p:cNvSpPr/>
          <p:nvPr/>
        </p:nvSpPr>
        <p:spPr>
          <a:xfrm>
            <a:off x="0" y="9636176"/>
            <a:ext cx="9144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81107" y="80491"/>
            <a:ext cx="1668813" cy="1521848"/>
            <a:chOff x="0" y="0"/>
            <a:chExt cx="2444952" cy="22296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44952" cy="2229635"/>
            </a:xfrm>
            <a:custGeom>
              <a:avLst/>
              <a:gdLst/>
              <a:ahLst/>
              <a:cxnLst/>
              <a:rect r="r" b="b" t="t" l="l"/>
              <a:pathLst>
                <a:path h="2229635" w="2444952">
                  <a:moveTo>
                    <a:pt x="162371" y="0"/>
                  </a:moveTo>
                  <a:lnTo>
                    <a:pt x="2282581" y="0"/>
                  </a:lnTo>
                  <a:cubicBezTo>
                    <a:pt x="2372256" y="0"/>
                    <a:pt x="2444952" y="72696"/>
                    <a:pt x="2444952" y="162371"/>
                  </a:cubicBezTo>
                  <a:lnTo>
                    <a:pt x="2444952" y="2067264"/>
                  </a:lnTo>
                  <a:cubicBezTo>
                    <a:pt x="2444952" y="2156939"/>
                    <a:pt x="2372256" y="2229635"/>
                    <a:pt x="2282581" y="2229635"/>
                  </a:cubicBezTo>
                  <a:lnTo>
                    <a:pt x="162371" y="2229635"/>
                  </a:lnTo>
                  <a:cubicBezTo>
                    <a:pt x="72696" y="2229635"/>
                    <a:pt x="0" y="2156939"/>
                    <a:pt x="0" y="2067264"/>
                  </a:cubicBezTo>
                  <a:lnTo>
                    <a:pt x="0" y="162371"/>
                  </a:lnTo>
                  <a:cubicBezTo>
                    <a:pt x="0" y="72696"/>
                    <a:pt x="72696" y="0"/>
                    <a:pt x="16237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828" r="0" b="-4828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26" id="26"/>
          <p:cNvSpPr/>
          <p:nvPr/>
        </p:nvSpPr>
        <p:spPr>
          <a:xfrm flipH="true" flipV="true" rot="-10800000">
            <a:off x="1498626" y="80491"/>
            <a:ext cx="2137614" cy="1036494"/>
          </a:xfrm>
          <a:custGeom>
            <a:avLst/>
            <a:gdLst/>
            <a:ahLst/>
            <a:cxnLst/>
            <a:rect r="r" b="b" t="t" l="l"/>
            <a:pathLst>
              <a:path h="1036494" w="2137614">
                <a:moveTo>
                  <a:pt x="2137614" y="1036494"/>
                </a:moveTo>
                <a:lnTo>
                  <a:pt x="0" y="1036494"/>
                </a:lnTo>
                <a:lnTo>
                  <a:pt x="0" y="0"/>
                </a:lnTo>
                <a:lnTo>
                  <a:pt x="2137614" y="0"/>
                </a:lnTo>
                <a:lnTo>
                  <a:pt x="2137614" y="103649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7" id="27"/>
          <p:cNvSpPr/>
          <p:nvPr/>
        </p:nvSpPr>
        <p:spPr>
          <a:xfrm flipV="true">
            <a:off x="2695198" y="796407"/>
            <a:ext cx="9956653" cy="9525"/>
          </a:xfrm>
          <a:prstGeom prst="line">
            <a:avLst/>
          </a:prstGeom>
          <a:ln cap="flat" w="38100">
            <a:solidFill>
              <a:srgbClr val="EBE5C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3836" y="1209675"/>
            <a:ext cx="6886575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EFC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Project Introduction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889906" y="2724150"/>
            <a:ext cx="11180379" cy="6896100"/>
            <a:chOff x="0" y="0"/>
            <a:chExt cx="14907172" cy="9194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4907172" cy="51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</a:pPr>
              <a:r>
                <a:rPr lang="en-US" b="true" sz="2500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</a:t>
              </a:r>
              <a:r>
                <a:rPr lang="en-US" b="true" sz="2500" strike="noStrike" u="none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 </a:t>
              </a:r>
              <a:r>
                <a:rPr lang="en-US" b="true" sz="2500" strike="noStrike" u="none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</a:t>
              </a:r>
              <a:r>
                <a:rPr lang="en-US" b="true" sz="2500" strike="noStrike" u="none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</a:t>
              </a:r>
              <a:r>
                <a:rPr lang="en-US" b="true" sz="2500" strike="noStrike" u="none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 go</a:t>
              </a:r>
              <a:r>
                <a:rPr lang="en-US" b="true" sz="2500" strike="noStrike" u="none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</a:t>
              </a:r>
              <a:r>
                <a:rPr lang="en-US" b="true" sz="2500" strike="noStrike" u="none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</a:t>
              </a:r>
              <a:r>
                <a:rPr lang="en-US" b="true" sz="2500" strike="noStrike" u="none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lang="en-US" b="true" sz="2500" strike="noStrike" u="none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of </a:t>
              </a:r>
              <a:r>
                <a:rPr lang="en-US" b="true" sz="2500" strike="noStrike" u="none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</a:t>
              </a:r>
              <a:r>
                <a:rPr lang="en-US" b="true" sz="2500" strike="noStrike" u="none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he p</a:t>
              </a:r>
              <a:r>
                <a:rPr lang="en-US" b="true" sz="2500" strike="noStrike" u="none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</a:t>
              </a:r>
              <a:r>
                <a:rPr lang="en-US" b="true" sz="2500" strike="noStrike" u="none">
                  <a:solidFill>
                    <a:srgbClr val="FEFC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oject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08000"/>
              <a:ext cx="14907172" cy="868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0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This project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serves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 a prel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inary experiment to explore the fea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ibility of applying it later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to 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ata 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ated 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 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Egy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t. It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ims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 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ibute to the develop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ent of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he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hcare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system with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work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of th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Nati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nal Di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ital Health St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tegy 2025–2029, w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 seeks to: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Improve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ze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s’ he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sure their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cess to equ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e,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high-qu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 medic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services.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Enhance 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nance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of the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health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tor by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mprov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ng res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urce ma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age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ent, incre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ing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transparency,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and prov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iding accurat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a.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Acc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lera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digital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ransf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ation by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build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 inte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healthcare system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based on data standardization and interoperability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  <a:p>
              <a:pPr algn="l">
                <a:lnSpc>
                  <a:spcPts val="2880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Alignment with Egypt’s National Strategy: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Unified Medical Record: Our Power BI data modeling mirrors the national approach of linking citizen records, visits, and costs.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Data-Driven Decision Making: The project produces dashboards ready for informed operational and strategic decisions.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Universal Health Insurance Initiatives: Financial and clinical analyses form the basis for pricing and quality assurance.</a:t>
              </a:r>
            </a:p>
            <a:p>
              <a:pPr algn="l" marL="0" indent="0" lvl="0">
                <a:lnSpc>
                  <a:spcPts val="28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06101" y="1028700"/>
            <a:ext cx="11088461" cy="1457325"/>
            <a:chOff x="0" y="0"/>
            <a:chExt cx="14784614" cy="19431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14784614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b="true" sz="2499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The purpose of</a:t>
              </a:r>
              <a:r>
                <a:rPr lang="en-US" b="true" sz="24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t</a:t>
              </a:r>
              <a:r>
                <a:rPr lang="en-US" b="true" sz="24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h</a:t>
              </a:r>
              <a:r>
                <a:rPr lang="en-US" b="true" sz="24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</a:t>
              </a:r>
              <a:r>
                <a:rPr lang="en-US" b="true" sz="24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d</a:t>
              </a:r>
              <a:r>
                <a:rPr lang="en-US" b="true" sz="24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at</a:t>
              </a:r>
              <a:r>
                <a:rPr lang="en-US" b="true" sz="24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95300"/>
              <a:ext cx="14784614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nalysis of 55,500 patient re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 in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the United States, in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cluding demographic, clinical, and financial data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aimed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evelop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 unified platform to support healthcare decision-making through integrated data.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35003" y="4053840"/>
            <a:ext cx="6267041" cy="5232379"/>
            <a:chOff x="0" y="0"/>
            <a:chExt cx="2268766" cy="18942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68766" cy="1894203"/>
            </a:xfrm>
            <a:custGeom>
              <a:avLst/>
              <a:gdLst/>
              <a:ahLst/>
              <a:cxnLst/>
              <a:rect r="r" b="b" t="t" l="l"/>
              <a:pathLst>
                <a:path h="1894203" w="2268766">
                  <a:moveTo>
                    <a:pt x="43237" y="0"/>
                  </a:moveTo>
                  <a:lnTo>
                    <a:pt x="2225529" y="0"/>
                  </a:lnTo>
                  <a:cubicBezTo>
                    <a:pt x="2236997" y="0"/>
                    <a:pt x="2247994" y="4555"/>
                    <a:pt x="2256103" y="12664"/>
                  </a:cubicBezTo>
                  <a:cubicBezTo>
                    <a:pt x="2264211" y="20772"/>
                    <a:pt x="2268766" y="31770"/>
                    <a:pt x="2268766" y="43237"/>
                  </a:cubicBezTo>
                  <a:lnTo>
                    <a:pt x="2268766" y="1850966"/>
                  </a:lnTo>
                  <a:cubicBezTo>
                    <a:pt x="2268766" y="1862433"/>
                    <a:pt x="2264211" y="1873430"/>
                    <a:pt x="2256103" y="1881539"/>
                  </a:cubicBezTo>
                  <a:cubicBezTo>
                    <a:pt x="2247994" y="1889647"/>
                    <a:pt x="2236997" y="1894203"/>
                    <a:pt x="2225529" y="1894203"/>
                  </a:cubicBezTo>
                  <a:lnTo>
                    <a:pt x="43237" y="1894203"/>
                  </a:lnTo>
                  <a:cubicBezTo>
                    <a:pt x="31770" y="1894203"/>
                    <a:pt x="20772" y="1889647"/>
                    <a:pt x="12664" y="1881539"/>
                  </a:cubicBezTo>
                  <a:cubicBezTo>
                    <a:pt x="4555" y="1873430"/>
                    <a:pt x="0" y="1862433"/>
                    <a:pt x="0" y="1850966"/>
                  </a:cubicBezTo>
                  <a:lnTo>
                    <a:pt x="0" y="43237"/>
                  </a:lnTo>
                  <a:cubicBezTo>
                    <a:pt x="0" y="31770"/>
                    <a:pt x="4555" y="20772"/>
                    <a:pt x="12664" y="12664"/>
                  </a:cubicBezTo>
                  <a:cubicBezTo>
                    <a:pt x="20772" y="4555"/>
                    <a:pt x="31770" y="0"/>
                    <a:pt x="43237" y="0"/>
                  </a:cubicBezTo>
                  <a:close/>
                </a:path>
              </a:pathLst>
            </a:custGeom>
            <a:blipFill>
              <a:blip r:embed="rId2"/>
              <a:stretch>
                <a:fillRect l="-5660" t="0" r="-5660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8143" y="80491"/>
            <a:ext cx="1629904" cy="1486365"/>
            <a:chOff x="0" y="0"/>
            <a:chExt cx="2444952" cy="22296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4952" cy="2229635"/>
            </a:xfrm>
            <a:custGeom>
              <a:avLst/>
              <a:gdLst/>
              <a:ahLst/>
              <a:cxnLst/>
              <a:rect r="r" b="b" t="t" l="l"/>
              <a:pathLst>
                <a:path h="2229635" w="2444952">
                  <a:moveTo>
                    <a:pt x="166247" y="0"/>
                  </a:moveTo>
                  <a:lnTo>
                    <a:pt x="2278705" y="0"/>
                  </a:lnTo>
                  <a:cubicBezTo>
                    <a:pt x="2370520" y="0"/>
                    <a:pt x="2444952" y="74431"/>
                    <a:pt x="2444952" y="166247"/>
                  </a:cubicBezTo>
                  <a:lnTo>
                    <a:pt x="2444952" y="2063388"/>
                  </a:lnTo>
                  <a:cubicBezTo>
                    <a:pt x="2444952" y="2155204"/>
                    <a:pt x="2370520" y="2229635"/>
                    <a:pt x="2278705" y="2229635"/>
                  </a:cubicBezTo>
                  <a:lnTo>
                    <a:pt x="166247" y="2229635"/>
                  </a:lnTo>
                  <a:cubicBezTo>
                    <a:pt x="74431" y="2229635"/>
                    <a:pt x="0" y="2155204"/>
                    <a:pt x="0" y="2063388"/>
                  </a:cubicBezTo>
                  <a:lnTo>
                    <a:pt x="0" y="166247"/>
                  </a:lnTo>
                  <a:cubicBezTo>
                    <a:pt x="0" y="74431"/>
                    <a:pt x="74431" y="0"/>
                    <a:pt x="16624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828" r="0" b="-4828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4" id="14"/>
          <p:cNvSpPr/>
          <p:nvPr/>
        </p:nvSpPr>
        <p:spPr>
          <a:xfrm flipH="true" flipV="true" rot="-10800000">
            <a:off x="1498626" y="80491"/>
            <a:ext cx="2137614" cy="1036494"/>
          </a:xfrm>
          <a:custGeom>
            <a:avLst/>
            <a:gdLst/>
            <a:ahLst/>
            <a:cxnLst/>
            <a:rect r="r" b="b" t="t" l="l"/>
            <a:pathLst>
              <a:path h="1036494" w="2137614">
                <a:moveTo>
                  <a:pt x="2137614" y="1036494"/>
                </a:moveTo>
                <a:lnTo>
                  <a:pt x="0" y="1036494"/>
                </a:lnTo>
                <a:lnTo>
                  <a:pt x="0" y="0"/>
                </a:lnTo>
                <a:lnTo>
                  <a:pt x="2137614" y="0"/>
                </a:lnTo>
                <a:lnTo>
                  <a:pt x="2137614" y="103649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V="true">
            <a:off x="2695198" y="796407"/>
            <a:ext cx="9956653" cy="9525"/>
          </a:xfrm>
          <a:prstGeom prst="line">
            <a:avLst/>
          </a:prstGeom>
          <a:ln cap="flat" w="38100">
            <a:solidFill>
              <a:srgbClr val="EBE5C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32737" y="5131506"/>
            <a:ext cx="16475753" cy="0"/>
          </a:xfrm>
          <a:prstGeom prst="line">
            <a:avLst/>
          </a:prstGeom>
          <a:ln cap="flat" w="19050">
            <a:solidFill>
              <a:srgbClr val="A134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EFC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092575" y="4928779"/>
            <a:ext cx="438967" cy="43896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1343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80016" y="4928779"/>
            <a:ext cx="438967" cy="4389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1343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259050" y="4928779"/>
            <a:ext cx="438967" cy="43896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1343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00983" y="4912022"/>
            <a:ext cx="438967" cy="43896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1343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67458" y="4912022"/>
            <a:ext cx="438967" cy="43896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1343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309391" y="4912022"/>
            <a:ext cx="438967" cy="43896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1343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050353" y="7207218"/>
            <a:ext cx="1631840" cy="1857375"/>
          </a:xfrm>
          <a:custGeom>
            <a:avLst/>
            <a:gdLst/>
            <a:ahLst/>
            <a:cxnLst/>
            <a:rect r="r" b="b" t="t" l="l"/>
            <a:pathLst>
              <a:path h="1857375" w="1631840">
                <a:moveTo>
                  <a:pt x="0" y="0"/>
                </a:moveTo>
                <a:lnTo>
                  <a:pt x="1631840" y="0"/>
                </a:lnTo>
                <a:lnTo>
                  <a:pt x="1631840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910918" y="7294912"/>
            <a:ext cx="1645395" cy="1648392"/>
          </a:xfrm>
          <a:custGeom>
            <a:avLst/>
            <a:gdLst/>
            <a:ahLst/>
            <a:cxnLst/>
            <a:rect r="r" b="b" t="t" l="l"/>
            <a:pathLst>
              <a:path h="1648392" w="1645395">
                <a:moveTo>
                  <a:pt x="0" y="0"/>
                </a:moveTo>
                <a:lnTo>
                  <a:pt x="1645395" y="0"/>
                </a:lnTo>
                <a:lnTo>
                  <a:pt x="1645395" y="1648392"/>
                </a:lnTo>
                <a:lnTo>
                  <a:pt x="0" y="1648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501376" y="7522025"/>
            <a:ext cx="2148498" cy="1389309"/>
          </a:xfrm>
          <a:custGeom>
            <a:avLst/>
            <a:gdLst/>
            <a:ahLst/>
            <a:cxnLst/>
            <a:rect r="r" b="b" t="t" l="l"/>
            <a:pathLst>
              <a:path h="1389309" w="2148498">
                <a:moveTo>
                  <a:pt x="0" y="0"/>
                </a:moveTo>
                <a:lnTo>
                  <a:pt x="2148498" y="0"/>
                </a:lnTo>
                <a:lnTo>
                  <a:pt x="2148498" y="1389310"/>
                </a:lnTo>
                <a:lnTo>
                  <a:pt x="0" y="13893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698017" y="7722714"/>
            <a:ext cx="1341878" cy="1341878"/>
          </a:xfrm>
          <a:custGeom>
            <a:avLst/>
            <a:gdLst/>
            <a:ahLst/>
            <a:cxnLst/>
            <a:rect r="r" b="b" t="t" l="l"/>
            <a:pathLst>
              <a:path h="1341878" w="1341878">
                <a:moveTo>
                  <a:pt x="0" y="0"/>
                </a:moveTo>
                <a:lnTo>
                  <a:pt x="1341879" y="0"/>
                </a:lnTo>
                <a:lnTo>
                  <a:pt x="1341879" y="1341879"/>
                </a:lnTo>
                <a:lnTo>
                  <a:pt x="0" y="13418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-1141591">
            <a:off x="15662834" y="6979820"/>
            <a:ext cx="1700746" cy="1700746"/>
          </a:xfrm>
          <a:custGeom>
            <a:avLst/>
            <a:gdLst/>
            <a:ahLst/>
            <a:cxnLst/>
            <a:rect r="r" b="b" t="t" l="l"/>
            <a:pathLst>
              <a:path h="1700746" w="1700746">
                <a:moveTo>
                  <a:pt x="0" y="0"/>
                </a:moveTo>
                <a:lnTo>
                  <a:pt x="1700746" y="0"/>
                </a:lnTo>
                <a:lnTo>
                  <a:pt x="1700746" y="1700746"/>
                </a:lnTo>
                <a:lnTo>
                  <a:pt x="0" y="17007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3182609" y="6998814"/>
            <a:ext cx="1761290" cy="1761290"/>
          </a:xfrm>
          <a:custGeom>
            <a:avLst/>
            <a:gdLst/>
            <a:ahLst/>
            <a:cxnLst/>
            <a:rect r="r" b="b" t="t" l="l"/>
            <a:pathLst>
              <a:path h="1761290" w="1761290">
                <a:moveTo>
                  <a:pt x="0" y="0"/>
                </a:moveTo>
                <a:lnTo>
                  <a:pt x="1761290" y="0"/>
                </a:lnTo>
                <a:lnTo>
                  <a:pt x="1761290" y="1761290"/>
                </a:lnTo>
                <a:lnTo>
                  <a:pt x="0" y="17612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835455" y="7631818"/>
            <a:ext cx="1602824" cy="1626482"/>
          </a:xfrm>
          <a:custGeom>
            <a:avLst/>
            <a:gdLst/>
            <a:ahLst/>
            <a:cxnLst/>
            <a:rect r="r" b="b" t="t" l="l"/>
            <a:pathLst>
              <a:path h="1626482" w="1602824">
                <a:moveTo>
                  <a:pt x="0" y="0"/>
                </a:moveTo>
                <a:lnTo>
                  <a:pt x="1602824" y="0"/>
                </a:lnTo>
                <a:lnTo>
                  <a:pt x="1602824" y="1626482"/>
                </a:lnTo>
                <a:lnTo>
                  <a:pt x="0" y="162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12612" y="7294912"/>
            <a:ext cx="1464773" cy="1843536"/>
          </a:xfrm>
          <a:custGeom>
            <a:avLst/>
            <a:gdLst/>
            <a:ahLst/>
            <a:cxnLst/>
            <a:rect r="r" b="b" t="t" l="l"/>
            <a:pathLst>
              <a:path h="1843536" w="1464773">
                <a:moveTo>
                  <a:pt x="0" y="0"/>
                </a:moveTo>
                <a:lnTo>
                  <a:pt x="1464774" y="0"/>
                </a:lnTo>
                <a:lnTo>
                  <a:pt x="1464774" y="1843536"/>
                </a:lnTo>
                <a:lnTo>
                  <a:pt x="0" y="18435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666750" y="1756410"/>
            <a:ext cx="158210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 spc="-192" strike="noStrike" u="none">
                <a:solidFill>
                  <a:srgbClr val="FEFC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Implementation Roadmap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77911" y="5551014"/>
            <a:ext cx="2833007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Gat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herin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w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osp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ital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cor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 ne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 fo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lysis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4785529" y="5551014"/>
            <a:ext cx="2708841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F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x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ng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errors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re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moving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nsisten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,and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truct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ur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ing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a.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7501376" y="5551014"/>
            <a:ext cx="2811236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f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yin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g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ain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que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ion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 and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KPIs 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b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alyz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2077911" y="4169072"/>
            <a:ext cx="203239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Data Collection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58721" y="3988097"/>
            <a:ext cx="288452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Data Cleaning &amp; Preparation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45941" y="3988097"/>
            <a:ext cx="277120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Defining Analytical Objectives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96472" y="4169072"/>
            <a:ext cx="184502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Excel Analysis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12612" y="5551014"/>
            <a:ext cx="2554846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Performing initial calculations and exploratory insights.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993895" y="3988097"/>
            <a:ext cx="266130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Power BI &amp; Tableau Dashboards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867458" y="5551014"/>
            <a:ext cx="239159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Building interactive visual dashboards for decision-making.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938225" y="3988097"/>
            <a:ext cx="252085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Advanced Python &amp; SQL Analysis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259050" y="5551014"/>
            <a:ext cx="273059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Running deeper analytical models and database queries.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1107" y="80491"/>
            <a:ext cx="1668813" cy="1521848"/>
            <a:chOff x="0" y="0"/>
            <a:chExt cx="2444952" cy="222963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44952" cy="2229635"/>
            </a:xfrm>
            <a:custGeom>
              <a:avLst/>
              <a:gdLst/>
              <a:ahLst/>
              <a:cxnLst/>
              <a:rect r="r" b="b" t="t" l="l"/>
              <a:pathLst>
                <a:path h="2229635" w="2444952">
                  <a:moveTo>
                    <a:pt x="162371" y="0"/>
                  </a:moveTo>
                  <a:lnTo>
                    <a:pt x="2282581" y="0"/>
                  </a:lnTo>
                  <a:cubicBezTo>
                    <a:pt x="2372256" y="0"/>
                    <a:pt x="2444952" y="72696"/>
                    <a:pt x="2444952" y="162371"/>
                  </a:cubicBezTo>
                  <a:lnTo>
                    <a:pt x="2444952" y="2067264"/>
                  </a:lnTo>
                  <a:cubicBezTo>
                    <a:pt x="2444952" y="2156939"/>
                    <a:pt x="2372256" y="2229635"/>
                    <a:pt x="2282581" y="2229635"/>
                  </a:cubicBezTo>
                  <a:lnTo>
                    <a:pt x="162371" y="2229635"/>
                  </a:lnTo>
                  <a:cubicBezTo>
                    <a:pt x="72696" y="2229635"/>
                    <a:pt x="0" y="2156939"/>
                    <a:pt x="0" y="2067264"/>
                  </a:cubicBezTo>
                  <a:lnTo>
                    <a:pt x="0" y="162371"/>
                  </a:lnTo>
                  <a:cubicBezTo>
                    <a:pt x="0" y="72696"/>
                    <a:pt x="72696" y="0"/>
                    <a:pt x="162371" y="0"/>
                  </a:cubicBezTo>
                  <a:close/>
                </a:path>
              </a:pathLst>
            </a:custGeom>
            <a:blipFill>
              <a:blip r:embed="rId18"/>
              <a:stretch>
                <a:fillRect l="0" t="-4828" r="0" b="-4828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45" id="45"/>
          <p:cNvSpPr/>
          <p:nvPr/>
        </p:nvSpPr>
        <p:spPr>
          <a:xfrm flipH="true" flipV="true" rot="-10800000">
            <a:off x="1498626" y="80491"/>
            <a:ext cx="2137614" cy="1036494"/>
          </a:xfrm>
          <a:custGeom>
            <a:avLst/>
            <a:gdLst/>
            <a:ahLst/>
            <a:cxnLst/>
            <a:rect r="r" b="b" t="t" l="l"/>
            <a:pathLst>
              <a:path h="1036494" w="2137614">
                <a:moveTo>
                  <a:pt x="2137614" y="1036494"/>
                </a:moveTo>
                <a:lnTo>
                  <a:pt x="0" y="1036494"/>
                </a:lnTo>
                <a:lnTo>
                  <a:pt x="0" y="0"/>
                </a:lnTo>
                <a:lnTo>
                  <a:pt x="2137614" y="0"/>
                </a:lnTo>
                <a:lnTo>
                  <a:pt x="2137614" y="1036494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6" id="46"/>
          <p:cNvSpPr/>
          <p:nvPr/>
        </p:nvSpPr>
        <p:spPr>
          <a:xfrm flipV="true">
            <a:off x="2695198" y="796407"/>
            <a:ext cx="9956653" cy="9525"/>
          </a:xfrm>
          <a:prstGeom prst="line">
            <a:avLst/>
          </a:prstGeom>
          <a:ln cap="flat" w="38100">
            <a:solidFill>
              <a:srgbClr val="EBE5C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8607" y="1459980"/>
            <a:ext cx="786800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EFC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Excel for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8178" y="2752725"/>
            <a:ext cx="8178429" cy="687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Excel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rv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ed as the init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al lab for the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ata, wh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prelimin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ry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inspection, er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 de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ection, and data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p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repar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 we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per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for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med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b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ef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ore mov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ng on to more advan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ed tools.</a:t>
            </a:r>
          </a:p>
          <a:p>
            <a:pPr algn="l" marL="0" indent="0" lvl="0">
              <a:lnSpc>
                <a:spcPts val="2879"/>
              </a:lnSpc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Cor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Role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ial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Inspection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ata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Cle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ing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Adding 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culated Column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vot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lysis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Bui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ing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th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fi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draf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dashb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ard</a:t>
            </a:r>
          </a:p>
          <a:p>
            <a:pPr algn="l" marL="0" indent="0" lvl="0">
              <a:lnSpc>
                <a:spcPts val="2879"/>
              </a:lnSpc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Key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Benefits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Clear und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standing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f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aw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data ,Reviewing each re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rd enab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 the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dete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tion of null v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alu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es, misspe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lings, and 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onsis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tenc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Critical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compu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ted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metric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Such as BMI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and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Length of Stay to v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lid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numerica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ccu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acy.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Pivot Tabl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 as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 foun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dat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ion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 ref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rence Crea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ing numerical benchmark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for compari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on with Pow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 BI and 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b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au re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ult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ater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l" marL="0" indent="0" lvl="0">
              <a:lnSpc>
                <a:spcPts val="287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4929292" y="0"/>
            <a:ext cx="3990115" cy="10287000"/>
            <a:chOff x="0" y="0"/>
            <a:chExt cx="1050894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08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50894">
                  <a:moveTo>
                    <a:pt x="194027" y="0"/>
                  </a:moveTo>
                  <a:lnTo>
                    <a:pt x="856867" y="0"/>
                  </a:lnTo>
                  <a:cubicBezTo>
                    <a:pt x="964025" y="0"/>
                    <a:pt x="1050894" y="86869"/>
                    <a:pt x="1050894" y="194027"/>
                  </a:cubicBezTo>
                  <a:lnTo>
                    <a:pt x="1050894" y="2515306"/>
                  </a:lnTo>
                  <a:cubicBezTo>
                    <a:pt x="1050894" y="2566765"/>
                    <a:pt x="1030452" y="2616117"/>
                    <a:pt x="994065" y="2652504"/>
                  </a:cubicBezTo>
                  <a:cubicBezTo>
                    <a:pt x="957678" y="2688891"/>
                    <a:pt x="908326" y="2709333"/>
                    <a:pt x="856867" y="2709333"/>
                  </a:cubicBezTo>
                  <a:lnTo>
                    <a:pt x="194027" y="2709333"/>
                  </a:lnTo>
                  <a:cubicBezTo>
                    <a:pt x="86869" y="2709333"/>
                    <a:pt x="0" y="2622464"/>
                    <a:pt x="0" y="2515306"/>
                  </a:cubicBezTo>
                  <a:lnTo>
                    <a:pt x="0" y="194027"/>
                  </a:lnTo>
                  <a:cubicBezTo>
                    <a:pt x="0" y="86869"/>
                    <a:pt x="86869" y="0"/>
                    <a:pt x="194027" y="0"/>
                  </a:cubicBezTo>
                  <a:close/>
                </a:path>
              </a:pathLst>
            </a:custGeom>
            <a:solidFill>
              <a:srgbClr val="A134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050894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FEFC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639019" y="821813"/>
            <a:ext cx="9277139" cy="8673674"/>
            <a:chOff x="0" y="0"/>
            <a:chExt cx="2498859" cy="23363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8859" cy="2336312"/>
            </a:xfrm>
            <a:custGeom>
              <a:avLst/>
              <a:gdLst/>
              <a:ahLst/>
              <a:cxnLst/>
              <a:rect r="r" b="b" t="t" l="l"/>
              <a:pathLst>
                <a:path h="2336312" w="2498859">
                  <a:moveTo>
                    <a:pt x="29208" y="0"/>
                  </a:moveTo>
                  <a:lnTo>
                    <a:pt x="2469651" y="0"/>
                  </a:lnTo>
                  <a:cubicBezTo>
                    <a:pt x="2485783" y="0"/>
                    <a:pt x="2498859" y="13077"/>
                    <a:pt x="2498859" y="29208"/>
                  </a:cubicBezTo>
                  <a:lnTo>
                    <a:pt x="2498859" y="2307104"/>
                  </a:lnTo>
                  <a:cubicBezTo>
                    <a:pt x="2498859" y="2323235"/>
                    <a:pt x="2485783" y="2336312"/>
                    <a:pt x="2469651" y="2336312"/>
                  </a:cubicBezTo>
                  <a:lnTo>
                    <a:pt x="29208" y="2336312"/>
                  </a:lnTo>
                  <a:cubicBezTo>
                    <a:pt x="13077" y="2336312"/>
                    <a:pt x="0" y="2323235"/>
                    <a:pt x="0" y="2307104"/>
                  </a:cubicBezTo>
                  <a:lnTo>
                    <a:pt x="0" y="29208"/>
                  </a:lnTo>
                  <a:cubicBezTo>
                    <a:pt x="0" y="13077"/>
                    <a:pt x="13077" y="0"/>
                    <a:pt x="29208" y="0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stretch>
                <a:fillRect l="-2963" t="0" r="-94814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29629" y="821813"/>
            <a:ext cx="6859540" cy="3550980"/>
            <a:chOff x="0" y="0"/>
            <a:chExt cx="1847663" cy="956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47663" cy="956480"/>
            </a:xfrm>
            <a:custGeom>
              <a:avLst/>
              <a:gdLst/>
              <a:ahLst/>
              <a:cxnLst/>
              <a:rect r="r" b="b" t="t" l="l"/>
              <a:pathLst>
                <a:path h="956480" w="1847663">
                  <a:moveTo>
                    <a:pt x="39502" y="0"/>
                  </a:moveTo>
                  <a:lnTo>
                    <a:pt x="1808161" y="0"/>
                  </a:lnTo>
                  <a:cubicBezTo>
                    <a:pt x="1818637" y="0"/>
                    <a:pt x="1828685" y="4162"/>
                    <a:pt x="1836093" y="11570"/>
                  </a:cubicBezTo>
                  <a:cubicBezTo>
                    <a:pt x="1843501" y="18978"/>
                    <a:pt x="1847663" y="29026"/>
                    <a:pt x="1847663" y="39502"/>
                  </a:cubicBezTo>
                  <a:lnTo>
                    <a:pt x="1847663" y="916978"/>
                  </a:lnTo>
                  <a:cubicBezTo>
                    <a:pt x="1847663" y="927455"/>
                    <a:pt x="1843501" y="937502"/>
                    <a:pt x="1836093" y="944910"/>
                  </a:cubicBezTo>
                  <a:cubicBezTo>
                    <a:pt x="1828685" y="952318"/>
                    <a:pt x="1818637" y="956480"/>
                    <a:pt x="1808161" y="956480"/>
                  </a:cubicBezTo>
                  <a:lnTo>
                    <a:pt x="39502" y="956480"/>
                  </a:lnTo>
                  <a:cubicBezTo>
                    <a:pt x="17686" y="956480"/>
                    <a:pt x="0" y="938794"/>
                    <a:pt x="0" y="916978"/>
                  </a:cubicBezTo>
                  <a:lnTo>
                    <a:pt x="0" y="39502"/>
                  </a:lnTo>
                  <a:cubicBezTo>
                    <a:pt x="0" y="29026"/>
                    <a:pt x="4162" y="18978"/>
                    <a:pt x="11570" y="11570"/>
                  </a:cubicBezTo>
                  <a:cubicBezTo>
                    <a:pt x="18978" y="4162"/>
                    <a:pt x="29026" y="0"/>
                    <a:pt x="39502" y="0"/>
                  </a:cubicBezTo>
                  <a:close/>
                </a:path>
              </a:pathLst>
            </a:custGeom>
            <a:blipFill>
              <a:blip r:embed="rId3"/>
              <a:stretch>
                <a:fillRect l="-842" t="0" r="-842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791419" y="2904065"/>
            <a:ext cx="7213014" cy="3545023"/>
            <a:chOff x="0" y="0"/>
            <a:chExt cx="1946139" cy="956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6139" cy="956480"/>
            </a:xfrm>
            <a:custGeom>
              <a:avLst/>
              <a:gdLst/>
              <a:ahLst/>
              <a:cxnLst/>
              <a:rect r="r" b="b" t="t" l="l"/>
              <a:pathLst>
                <a:path h="956480" w="1946139">
                  <a:moveTo>
                    <a:pt x="37566" y="0"/>
                  </a:moveTo>
                  <a:lnTo>
                    <a:pt x="1908572" y="0"/>
                  </a:lnTo>
                  <a:cubicBezTo>
                    <a:pt x="1929319" y="0"/>
                    <a:pt x="1946139" y="16819"/>
                    <a:pt x="1946139" y="37566"/>
                  </a:cubicBezTo>
                  <a:lnTo>
                    <a:pt x="1946139" y="918914"/>
                  </a:lnTo>
                  <a:cubicBezTo>
                    <a:pt x="1946139" y="928877"/>
                    <a:pt x="1942181" y="938432"/>
                    <a:pt x="1935136" y="945477"/>
                  </a:cubicBezTo>
                  <a:cubicBezTo>
                    <a:pt x="1928091" y="952522"/>
                    <a:pt x="1918535" y="956480"/>
                    <a:pt x="1908572" y="956480"/>
                  </a:cubicBezTo>
                  <a:lnTo>
                    <a:pt x="37566" y="956480"/>
                  </a:lnTo>
                  <a:cubicBezTo>
                    <a:pt x="16819" y="956480"/>
                    <a:pt x="0" y="939661"/>
                    <a:pt x="0" y="918914"/>
                  </a:cubicBezTo>
                  <a:lnTo>
                    <a:pt x="0" y="37566"/>
                  </a:lnTo>
                  <a:cubicBezTo>
                    <a:pt x="0" y="16819"/>
                    <a:pt x="16819" y="0"/>
                    <a:pt x="37566" y="0"/>
                  </a:cubicBezTo>
                  <a:close/>
                </a:path>
              </a:pathLst>
            </a:custGeom>
            <a:blipFill>
              <a:blip r:embed="rId4"/>
              <a:stretch>
                <a:fillRect l="-243" t="0" r="-243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748522" y="5944507"/>
            <a:ext cx="6940647" cy="3550980"/>
            <a:chOff x="0" y="0"/>
            <a:chExt cx="1869510" cy="956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69510" cy="956480"/>
            </a:xfrm>
            <a:custGeom>
              <a:avLst/>
              <a:gdLst/>
              <a:ahLst/>
              <a:cxnLst/>
              <a:rect r="r" b="b" t="t" l="l"/>
              <a:pathLst>
                <a:path h="956480" w="1869510">
                  <a:moveTo>
                    <a:pt x="39041" y="0"/>
                  </a:moveTo>
                  <a:lnTo>
                    <a:pt x="1830469" y="0"/>
                  </a:lnTo>
                  <a:cubicBezTo>
                    <a:pt x="1852031" y="0"/>
                    <a:pt x="1869510" y="17479"/>
                    <a:pt x="1869510" y="39041"/>
                  </a:cubicBezTo>
                  <a:lnTo>
                    <a:pt x="1869510" y="917440"/>
                  </a:lnTo>
                  <a:cubicBezTo>
                    <a:pt x="1869510" y="939001"/>
                    <a:pt x="1852031" y="956480"/>
                    <a:pt x="1830469" y="956480"/>
                  </a:cubicBezTo>
                  <a:lnTo>
                    <a:pt x="39041" y="956480"/>
                  </a:lnTo>
                  <a:cubicBezTo>
                    <a:pt x="17479" y="956480"/>
                    <a:pt x="0" y="939001"/>
                    <a:pt x="0" y="917440"/>
                  </a:cubicBezTo>
                  <a:lnTo>
                    <a:pt x="0" y="39041"/>
                  </a:lnTo>
                  <a:cubicBezTo>
                    <a:pt x="0" y="17479"/>
                    <a:pt x="17479" y="0"/>
                    <a:pt x="39041" y="0"/>
                  </a:cubicBezTo>
                  <a:close/>
                </a:path>
              </a:pathLst>
            </a:custGeom>
            <a:blipFill>
              <a:blip r:embed="rId5"/>
              <a:stretch>
                <a:fillRect l="-1348" t="0" r="-1348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1107" y="80491"/>
            <a:ext cx="1668813" cy="1521848"/>
            <a:chOff x="0" y="0"/>
            <a:chExt cx="2444952" cy="22296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44952" cy="2229635"/>
            </a:xfrm>
            <a:custGeom>
              <a:avLst/>
              <a:gdLst/>
              <a:ahLst/>
              <a:cxnLst/>
              <a:rect r="r" b="b" t="t" l="l"/>
              <a:pathLst>
                <a:path h="2229635" w="2444952">
                  <a:moveTo>
                    <a:pt x="162371" y="0"/>
                  </a:moveTo>
                  <a:lnTo>
                    <a:pt x="2282581" y="0"/>
                  </a:lnTo>
                  <a:cubicBezTo>
                    <a:pt x="2372256" y="0"/>
                    <a:pt x="2444952" y="72696"/>
                    <a:pt x="2444952" y="162371"/>
                  </a:cubicBezTo>
                  <a:lnTo>
                    <a:pt x="2444952" y="2067264"/>
                  </a:lnTo>
                  <a:cubicBezTo>
                    <a:pt x="2444952" y="2156939"/>
                    <a:pt x="2372256" y="2229635"/>
                    <a:pt x="2282581" y="2229635"/>
                  </a:cubicBezTo>
                  <a:lnTo>
                    <a:pt x="162371" y="2229635"/>
                  </a:lnTo>
                  <a:cubicBezTo>
                    <a:pt x="72696" y="2229635"/>
                    <a:pt x="0" y="2156939"/>
                    <a:pt x="0" y="2067264"/>
                  </a:cubicBezTo>
                  <a:lnTo>
                    <a:pt x="0" y="162371"/>
                  </a:lnTo>
                  <a:cubicBezTo>
                    <a:pt x="0" y="72696"/>
                    <a:pt x="72696" y="0"/>
                    <a:pt x="162371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4828" r="0" b="-4828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8" id="18"/>
          <p:cNvSpPr/>
          <p:nvPr/>
        </p:nvSpPr>
        <p:spPr>
          <a:xfrm flipH="true" flipV="true" rot="-10800000">
            <a:off x="1498626" y="80491"/>
            <a:ext cx="2137614" cy="1036494"/>
          </a:xfrm>
          <a:custGeom>
            <a:avLst/>
            <a:gdLst/>
            <a:ahLst/>
            <a:cxnLst/>
            <a:rect r="r" b="b" t="t" l="l"/>
            <a:pathLst>
              <a:path h="1036494" w="2137614">
                <a:moveTo>
                  <a:pt x="2137614" y="1036494"/>
                </a:moveTo>
                <a:lnTo>
                  <a:pt x="0" y="1036494"/>
                </a:lnTo>
                <a:lnTo>
                  <a:pt x="0" y="0"/>
                </a:lnTo>
                <a:lnTo>
                  <a:pt x="2137614" y="0"/>
                </a:lnTo>
                <a:lnTo>
                  <a:pt x="2137614" y="103649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 flipV="true">
            <a:off x="2695198" y="796407"/>
            <a:ext cx="9956653" cy="9525"/>
          </a:xfrm>
          <a:prstGeom prst="line">
            <a:avLst/>
          </a:prstGeom>
          <a:ln cap="flat" w="38100">
            <a:solidFill>
              <a:srgbClr val="EBE5C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6121" y="1209675"/>
            <a:ext cx="5448300" cy="123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00"/>
              </a:lnSpc>
            </a:pPr>
            <a:r>
              <a:rPr lang="en-US" sz="9300" spc="-186">
                <a:solidFill>
                  <a:srgbClr val="FEFC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Power BI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8386" y="2232395"/>
            <a:ext cx="7968988" cy="760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Power BI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was the project’s main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gine—t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 most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ompr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hen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ive tool combining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data analysis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modeling, ta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b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elati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nships, and ad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v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anced KPI creat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on.</a:t>
            </a:r>
          </a:p>
          <a:p>
            <a:pPr algn="l" marL="0" indent="0" lvl="0">
              <a:lnSpc>
                <a:spcPts val="2879"/>
              </a:lnSpc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Core Role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Data Mo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ing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Advanced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KPIs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nteractive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Dashboards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ETL Automat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on through Power Query</a:t>
            </a:r>
          </a:p>
          <a:p>
            <a:pPr algn="l" marL="0" indent="0" lvl="0">
              <a:lnSpc>
                <a:spcPts val="2879"/>
              </a:lnSpc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Power BI’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Real Strength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tom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ted Data 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ean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ng (ETL Autom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ation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) All tran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form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tio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steps were recorde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for futu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autom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ati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 updat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Data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Model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g (Relation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ps) Connectin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tables suc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as Patien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– Costs – Hospitals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enabl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ed mult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dime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sional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analysis.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DAX M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asur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</a:p>
          <a:p>
            <a:pPr algn="l">
              <a:lnSpc>
                <a:spcPts val="2879"/>
              </a:lnSpc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eating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vanc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ndicator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ke:</a:t>
            </a:r>
          </a:p>
          <a:p>
            <a:pPr algn="l">
              <a:lnSpc>
                <a:spcPts val="2879"/>
              </a:lnSpc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(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st Per 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y , 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me 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telli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ence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,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tie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sk G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rou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activity</a:t>
            </a:r>
          </a:p>
          <a:p>
            <a:pPr algn="l">
              <a:lnSpc>
                <a:spcPts val="2879"/>
              </a:lnSpc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Cro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s-fil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ering, drill-through,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and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dy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amic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views.</a:t>
            </a:r>
          </a:p>
          <a:p>
            <a:pPr algn="l" marL="0" indent="0" lvl="0">
              <a:lnSpc>
                <a:spcPts val="287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cap="flat" w="19050">
            <a:solidFill>
              <a:srgbClr val="A1343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4929292" y="0"/>
            <a:ext cx="3990115" cy="10287000"/>
            <a:chOff x="0" y="0"/>
            <a:chExt cx="105089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08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50894">
                  <a:moveTo>
                    <a:pt x="194027" y="0"/>
                  </a:moveTo>
                  <a:lnTo>
                    <a:pt x="856867" y="0"/>
                  </a:lnTo>
                  <a:cubicBezTo>
                    <a:pt x="964025" y="0"/>
                    <a:pt x="1050894" y="86869"/>
                    <a:pt x="1050894" y="194027"/>
                  </a:cubicBezTo>
                  <a:lnTo>
                    <a:pt x="1050894" y="2515306"/>
                  </a:lnTo>
                  <a:cubicBezTo>
                    <a:pt x="1050894" y="2566765"/>
                    <a:pt x="1030452" y="2616117"/>
                    <a:pt x="994065" y="2652504"/>
                  </a:cubicBezTo>
                  <a:cubicBezTo>
                    <a:pt x="957678" y="2688891"/>
                    <a:pt x="908326" y="2709333"/>
                    <a:pt x="856867" y="2709333"/>
                  </a:cubicBezTo>
                  <a:lnTo>
                    <a:pt x="194027" y="2709333"/>
                  </a:lnTo>
                  <a:cubicBezTo>
                    <a:pt x="86869" y="2709333"/>
                    <a:pt x="0" y="2622464"/>
                    <a:pt x="0" y="2515306"/>
                  </a:cubicBezTo>
                  <a:lnTo>
                    <a:pt x="0" y="194027"/>
                  </a:lnTo>
                  <a:cubicBezTo>
                    <a:pt x="0" y="86869"/>
                    <a:pt x="86869" y="0"/>
                    <a:pt x="194027" y="0"/>
                  </a:cubicBezTo>
                  <a:close/>
                </a:path>
              </a:pathLst>
            </a:custGeom>
            <a:solidFill>
              <a:srgbClr val="A134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050894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FEFC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217374" y="821813"/>
            <a:ext cx="9698784" cy="8673674"/>
            <a:chOff x="0" y="0"/>
            <a:chExt cx="2612432" cy="23363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12432" cy="2336312"/>
            </a:xfrm>
            <a:custGeom>
              <a:avLst/>
              <a:gdLst/>
              <a:ahLst/>
              <a:cxnLst/>
              <a:rect r="r" b="b" t="t" l="l"/>
              <a:pathLst>
                <a:path h="2336312" w="2612432">
                  <a:moveTo>
                    <a:pt x="27938" y="0"/>
                  </a:moveTo>
                  <a:lnTo>
                    <a:pt x="2584494" y="0"/>
                  </a:lnTo>
                  <a:cubicBezTo>
                    <a:pt x="2599924" y="0"/>
                    <a:pt x="2612432" y="12508"/>
                    <a:pt x="2612432" y="27938"/>
                  </a:cubicBezTo>
                  <a:lnTo>
                    <a:pt x="2612432" y="2308374"/>
                  </a:lnTo>
                  <a:cubicBezTo>
                    <a:pt x="2612432" y="2323804"/>
                    <a:pt x="2599924" y="2336312"/>
                    <a:pt x="2584494" y="2336312"/>
                  </a:cubicBezTo>
                  <a:lnTo>
                    <a:pt x="27938" y="2336312"/>
                  </a:lnTo>
                  <a:cubicBezTo>
                    <a:pt x="12508" y="2336312"/>
                    <a:pt x="0" y="2323804"/>
                    <a:pt x="0" y="2308374"/>
                  </a:cubicBezTo>
                  <a:lnTo>
                    <a:pt x="0" y="27938"/>
                  </a:lnTo>
                  <a:cubicBezTo>
                    <a:pt x="0" y="12508"/>
                    <a:pt x="12508" y="0"/>
                    <a:pt x="27938" y="0"/>
                  </a:cubicBezTo>
                  <a:close/>
                </a:path>
              </a:pathLst>
            </a:custGeom>
            <a:blipFill>
              <a:blip r:embed="rId2">
                <a:alphaModFix amt="18999"/>
              </a:blip>
              <a:stretch>
                <a:fillRect l="0" t="-3367" r="0" b="-3367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820358" y="925681"/>
            <a:ext cx="6217868" cy="3218805"/>
            <a:chOff x="0" y="0"/>
            <a:chExt cx="1847663" cy="956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47663" cy="956480"/>
            </a:xfrm>
            <a:custGeom>
              <a:avLst/>
              <a:gdLst/>
              <a:ahLst/>
              <a:cxnLst/>
              <a:rect r="r" b="b" t="t" l="l"/>
              <a:pathLst>
                <a:path h="956480" w="1847663">
                  <a:moveTo>
                    <a:pt x="43579" y="0"/>
                  </a:moveTo>
                  <a:lnTo>
                    <a:pt x="1804084" y="0"/>
                  </a:lnTo>
                  <a:cubicBezTo>
                    <a:pt x="1828152" y="0"/>
                    <a:pt x="1847663" y="19511"/>
                    <a:pt x="1847663" y="43579"/>
                  </a:cubicBezTo>
                  <a:lnTo>
                    <a:pt x="1847663" y="912901"/>
                  </a:lnTo>
                  <a:cubicBezTo>
                    <a:pt x="1847663" y="936969"/>
                    <a:pt x="1828152" y="956480"/>
                    <a:pt x="1804084" y="956480"/>
                  </a:cubicBezTo>
                  <a:lnTo>
                    <a:pt x="43579" y="956480"/>
                  </a:lnTo>
                  <a:cubicBezTo>
                    <a:pt x="19511" y="956480"/>
                    <a:pt x="0" y="936969"/>
                    <a:pt x="0" y="912901"/>
                  </a:cubicBezTo>
                  <a:lnTo>
                    <a:pt x="0" y="43579"/>
                  </a:lnTo>
                  <a:cubicBezTo>
                    <a:pt x="0" y="19511"/>
                    <a:pt x="19511" y="0"/>
                    <a:pt x="4357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439" r="0" b="-443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487732" y="2232395"/>
            <a:ext cx="6217868" cy="3448609"/>
            <a:chOff x="0" y="0"/>
            <a:chExt cx="1847663" cy="1024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47663" cy="1024767"/>
            </a:xfrm>
            <a:custGeom>
              <a:avLst/>
              <a:gdLst/>
              <a:ahLst/>
              <a:cxnLst/>
              <a:rect r="r" b="b" t="t" l="l"/>
              <a:pathLst>
                <a:path h="1024767" w="1847663">
                  <a:moveTo>
                    <a:pt x="43579" y="0"/>
                  </a:moveTo>
                  <a:lnTo>
                    <a:pt x="1804084" y="0"/>
                  </a:lnTo>
                  <a:cubicBezTo>
                    <a:pt x="1828152" y="0"/>
                    <a:pt x="1847663" y="19511"/>
                    <a:pt x="1847663" y="43579"/>
                  </a:cubicBezTo>
                  <a:lnTo>
                    <a:pt x="1847663" y="981188"/>
                  </a:lnTo>
                  <a:cubicBezTo>
                    <a:pt x="1847663" y="1005256"/>
                    <a:pt x="1828152" y="1024767"/>
                    <a:pt x="1804084" y="1024767"/>
                  </a:cubicBezTo>
                  <a:lnTo>
                    <a:pt x="43579" y="1024767"/>
                  </a:lnTo>
                  <a:cubicBezTo>
                    <a:pt x="19511" y="1024767"/>
                    <a:pt x="0" y="1005256"/>
                    <a:pt x="0" y="981188"/>
                  </a:cubicBezTo>
                  <a:lnTo>
                    <a:pt x="0" y="43579"/>
                  </a:lnTo>
                  <a:cubicBezTo>
                    <a:pt x="0" y="19511"/>
                    <a:pt x="19511" y="0"/>
                    <a:pt x="4357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812" r="0" b="-812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71661" y="4528213"/>
            <a:ext cx="6515261" cy="3650197"/>
            <a:chOff x="0" y="0"/>
            <a:chExt cx="1936034" cy="1084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6035" cy="1084670"/>
            </a:xfrm>
            <a:custGeom>
              <a:avLst/>
              <a:gdLst/>
              <a:ahLst/>
              <a:cxnLst/>
              <a:rect r="r" b="b" t="t" l="l"/>
              <a:pathLst>
                <a:path h="1084670" w="1936035">
                  <a:moveTo>
                    <a:pt x="41590" y="0"/>
                  </a:moveTo>
                  <a:lnTo>
                    <a:pt x="1894445" y="0"/>
                  </a:lnTo>
                  <a:cubicBezTo>
                    <a:pt x="1917414" y="0"/>
                    <a:pt x="1936035" y="18620"/>
                    <a:pt x="1936035" y="41590"/>
                  </a:cubicBezTo>
                  <a:lnTo>
                    <a:pt x="1936035" y="1043080"/>
                  </a:lnTo>
                  <a:cubicBezTo>
                    <a:pt x="1936035" y="1054110"/>
                    <a:pt x="1931653" y="1064689"/>
                    <a:pt x="1923853" y="1072488"/>
                  </a:cubicBezTo>
                  <a:cubicBezTo>
                    <a:pt x="1916054" y="1080288"/>
                    <a:pt x="1905475" y="1084670"/>
                    <a:pt x="1894445" y="1084670"/>
                  </a:cubicBezTo>
                  <a:lnTo>
                    <a:pt x="41590" y="1084670"/>
                  </a:lnTo>
                  <a:cubicBezTo>
                    <a:pt x="30559" y="1084670"/>
                    <a:pt x="19981" y="1080288"/>
                    <a:pt x="12181" y="1072488"/>
                  </a:cubicBezTo>
                  <a:cubicBezTo>
                    <a:pt x="4382" y="1064689"/>
                    <a:pt x="0" y="1054110"/>
                    <a:pt x="0" y="1043080"/>
                  </a:cubicBezTo>
                  <a:lnTo>
                    <a:pt x="0" y="41590"/>
                  </a:lnTo>
                  <a:cubicBezTo>
                    <a:pt x="0" y="30559"/>
                    <a:pt x="4382" y="19981"/>
                    <a:pt x="12181" y="12181"/>
                  </a:cubicBezTo>
                  <a:cubicBezTo>
                    <a:pt x="19981" y="4382"/>
                    <a:pt x="30559" y="0"/>
                    <a:pt x="415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39" r="0" b="-13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427549" y="5892528"/>
            <a:ext cx="6488225" cy="3516199"/>
            <a:chOff x="0" y="0"/>
            <a:chExt cx="1928001" cy="10448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28001" cy="1044852"/>
            </a:xfrm>
            <a:custGeom>
              <a:avLst/>
              <a:gdLst/>
              <a:ahLst/>
              <a:cxnLst/>
              <a:rect r="r" b="b" t="t" l="l"/>
              <a:pathLst>
                <a:path h="1044852" w="1928001">
                  <a:moveTo>
                    <a:pt x="41763" y="0"/>
                  </a:moveTo>
                  <a:lnTo>
                    <a:pt x="1886238" y="0"/>
                  </a:lnTo>
                  <a:cubicBezTo>
                    <a:pt x="1909303" y="0"/>
                    <a:pt x="1928001" y="18698"/>
                    <a:pt x="1928001" y="41763"/>
                  </a:cubicBezTo>
                  <a:lnTo>
                    <a:pt x="1928001" y="1003089"/>
                  </a:lnTo>
                  <a:cubicBezTo>
                    <a:pt x="1928001" y="1026154"/>
                    <a:pt x="1909303" y="1044852"/>
                    <a:pt x="1886238" y="1044852"/>
                  </a:cubicBezTo>
                  <a:lnTo>
                    <a:pt x="41763" y="1044852"/>
                  </a:lnTo>
                  <a:cubicBezTo>
                    <a:pt x="18698" y="1044852"/>
                    <a:pt x="0" y="1026154"/>
                    <a:pt x="0" y="1003089"/>
                  </a:cubicBezTo>
                  <a:lnTo>
                    <a:pt x="0" y="41763"/>
                  </a:lnTo>
                  <a:cubicBezTo>
                    <a:pt x="0" y="18698"/>
                    <a:pt x="18698" y="0"/>
                    <a:pt x="4176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169" r="0" b="-216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1107" y="80491"/>
            <a:ext cx="1668813" cy="1521848"/>
            <a:chOff x="0" y="0"/>
            <a:chExt cx="2444952" cy="22296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44952" cy="2229635"/>
            </a:xfrm>
            <a:custGeom>
              <a:avLst/>
              <a:gdLst/>
              <a:ahLst/>
              <a:cxnLst/>
              <a:rect r="r" b="b" t="t" l="l"/>
              <a:pathLst>
                <a:path h="2229635" w="2444952">
                  <a:moveTo>
                    <a:pt x="162371" y="0"/>
                  </a:moveTo>
                  <a:lnTo>
                    <a:pt x="2282581" y="0"/>
                  </a:lnTo>
                  <a:cubicBezTo>
                    <a:pt x="2372256" y="0"/>
                    <a:pt x="2444952" y="72696"/>
                    <a:pt x="2444952" y="162371"/>
                  </a:cubicBezTo>
                  <a:lnTo>
                    <a:pt x="2444952" y="2067264"/>
                  </a:lnTo>
                  <a:cubicBezTo>
                    <a:pt x="2444952" y="2156939"/>
                    <a:pt x="2372256" y="2229635"/>
                    <a:pt x="2282581" y="2229635"/>
                  </a:cubicBezTo>
                  <a:lnTo>
                    <a:pt x="162371" y="2229635"/>
                  </a:lnTo>
                  <a:cubicBezTo>
                    <a:pt x="72696" y="2229635"/>
                    <a:pt x="0" y="2156939"/>
                    <a:pt x="0" y="2067264"/>
                  </a:cubicBezTo>
                  <a:lnTo>
                    <a:pt x="0" y="162371"/>
                  </a:lnTo>
                  <a:cubicBezTo>
                    <a:pt x="0" y="72696"/>
                    <a:pt x="72696" y="0"/>
                    <a:pt x="162371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828" r="0" b="-4828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21" id="21"/>
          <p:cNvSpPr/>
          <p:nvPr/>
        </p:nvSpPr>
        <p:spPr>
          <a:xfrm flipH="true" flipV="true" rot="-10800000">
            <a:off x="1498626" y="80491"/>
            <a:ext cx="2137614" cy="1036494"/>
          </a:xfrm>
          <a:custGeom>
            <a:avLst/>
            <a:gdLst/>
            <a:ahLst/>
            <a:cxnLst/>
            <a:rect r="r" b="b" t="t" l="l"/>
            <a:pathLst>
              <a:path h="1036494" w="2137614">
                <a:moveTo>
                  <a:pt x="2137614" y="1036494"/>
                </a:moveTo>
                <a:lnTo>
                  <a:pt x="0" y="1036494"/>
                </a:lnTo>
                <a:lnTo>
                  <a:pt x="0" y="0"/>
                </a:lnTo>
                <a:lnTo>
                  <a:pt x="2137614" y="0"/>
                </a:lnTo>
                <a:lnTo>
                  <a:pt x="2137614" y="103649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2" id="22"/>
          <p:cNvSpPr/>
          <p:nvPr/>
        </p:nvSpPr>
        <p:spPr>
          <a:xfrm flipV="true">
            <a:off x="2695198" y="796407"/>
            <a:ext cx="9956653" cy="9525"/>
          </a:xfrm>
          <a:prstGeom prst="line">
            <a:avLst/>
          </a:prstGeom>
          <a:ln cap="flat" w="38100">
            <a:solidFill>
              <a:srgbClr val="EBE5C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455" y="1297951"/>
            <a:ext cx="4793994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EFC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 Tableau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0741" y="2580016"/>
            <a:ext cx="8280281" cy="723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Tableau was used for fast and intuitive visual exploration, emphasizing ease of use, instant pattern recognition, and storytelling. It was also used to create a comprehensive project-wide dashboard.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Core Role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Exploratory Data Analysis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Interactive Visuals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Geographic &amp; Demographic Patterns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Key Benefits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Rapid chart creation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Quickly analyze patient distributions by age and location.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Outlier detection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Identify anomalous values, such as extremely high-cost cases.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Storytelling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Present the “data story” visually in a smooth and engaging way.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Project Dashboard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Enabled the creation of an overall dashboard summarizing the entire project for stakeholders.</a:t>
            </a:r>
          </a:p>
          <a:p>
            <a:pPr algn="l" marL="0" indent="0" lvl="0">
              <a:lnSpc>
                <a:spcPts val="287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4929292" y="0"/>
            <a:ext cx="3990115" cy="10287000"/>
            <a:chOff x="0" y="0"/>
            <a:chExt cx="105089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08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50894">
                  <a:moveTo>
                    <a:pt x="194027" y="0"/>
                  </a:moveTo>
                  <a:lnTo>
                    <a:pt x="856867" y="0"/>
                  </a:lnTo>
                  <a:cubicBezTo>
                    <a:pt x="964025" y="0"/>
                    <a:pt x="1050894" y="86869"/>
                    <a:pt x="1050894" y="194027"/>
                  </a:cubicBezTo>
                  <a:lnTo>
                    <a:pt x="1050894" y="2515306"/>
                  </a:lnTo>
                  <a:cubicBezTo>
                    <a:pt x="1050894" y="2566765"/>
                    <a:pt x="1030452" y="2616117"/>
                    <a:pt x="994065" y="2652504"/>
                  </a:cubicBezTo>
                  <a:cubicBezTo>
                    <a:pt x="957678" y="2688891"/>
                    <a:pt x="908326" y="2709333"/>
                    <a:pt x="856867" y="2709333"/>
                  </a:cubicBezTo>
                  <a:lnTo>
                    <a:pt x="194027" y="2709333"/>
                  </a:lnTo>
                  <a:cubicBezTo>
                    <a:pt x="86869" y="2709333"/>
                    <a:pt x="0" y="2622464"/>
                    <a:pt x="0" y="2515306"/>
                  </a:cubicBezTo>
                  <a:lnTo>
                    <a:pt x="0" y="194027"/>
                  </a:lnTo>
                  <a:cubicBezTo>
                    <a:pt x="0" y="86869"/>
                    <a:pt x="86869" y="0"/>
                    <a:pt x="194027" y="0"/>
                  </a:cubicBezTo>
                  <a:close/>
                </a:path>
              </a:pathLst>
            </a:custGeom>
            <a:solidFill>
              <a:srgbClr val="A134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050894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6499" y="878072"/>
            <a:ext cx="8706564" cy="5945316"/>
            <a:chOff x="0" y="0"/>
            <a:chExt cx="1853309" cy="12655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53309" cy="1265540"/>
            </a:xfrm>
            <a:custGeom>
              <a:avLst/>
              <a:gdLst/>
              <a:ahLst/>
              <a:cxnLst/>
              <a:rect r="r" b="b" t="t" l="l"/>
              <a:pathLst>
                <a:path h="1265540" w="1853309">
                  <a:moveTo>
                    <a:pt x="31122" y="0"/>
                  </a:moveTo>
                  <a:lnTo>
                    <a:pt x="1822187" y="0"/>
                  </a:lnTo>
                  <a:cubicBezTo>
                    <a:pt x="1830441" y="0"/>
                    <a:pt x="1838357" y="3279"/>
                    <a:pt x="1844193" y="9115"/>
                  </a:cubicBezTo>
                  <a:cubicBezTo>
                    <a:pt x="1850030" y="14952"/>
                    <a:pt x="1853309" y="22868"/>
                    <a:pt x="1853309" y="31122"/>
                  </a:cubicBezTo>
                  <a:lnTo>
                    <a:pt x="1853309" y="1234418"/>
                  </a:lnTo>
                  <a:cubicBezTo>
                    <a:pt x="1853309" y="1251607"/>
                    <a:pt x="1839375" y="1265540"/>
                    <a:pt x="1822187" y="1265540"/>
                  </a:cubicBezTo>
                  <a:lnTo>
                    <a:pt x="31122" y="1265540"/>
                  </a:lnTo>
                  <a:cubicBezTo>
                    <a:pt x="13934" y="1265540"/>
                    <a:pt x="0" y="1251607"/>
                    <a:pt x="0" y="1234418"/>
                  </a:cubicBezTo>
                  <a:lnTo>
                    <a:pt x="0" y="31122"/>
                  </a:lnTo>
                  <a:cubicBezTo>
                    <a:pt x="0" y="13934"/>
                    <a:pt x="13934" y="0"/>
                    <a:pt x="31122" y="0"/>
                  </a:cubicBezTo>
                  <a:close/>
                </a:path>
              </a:pathLst>
            </a:custGeom>
            <a:blipFill>
              <a:blip r:embed="rId2"/>
              <a:stretch>
                <a:fillRect l="-1028" t="0" r="-1028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96499" y="7013888"/>
            <a:ext cx="8706564" cy="2526929"/>
            <a:chOff x="0" y="0"/>
            <a:chExt cx="1541328" cy="4473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41328" cy="447344"/>
            </a:xfrm>
            <a:custGeom>
              <a:avLst/>
              <a:gdLst/>
              <a:ahLst/>
              <a:cxnLst/>
              <a:rect r="r" b="b" t="t" l="l"/>
              <a:pathLst>
                <a:path h="447344" w="1541328">
                  <a:moveTo>
                    <a:pt x="31122" y="0"/>
                  </a:moveTo>
                  <a:lnTo>
                    <a:pt x="1510206" y="0"/>
                  </a:lnTo>
                  <a:cubicBezTo>
                    <a:pt x="1527394" y="0"/>
                    <a:pt x="1541328" y="13934"/>
                    <a:pt x="1541328" y="31122"/>
                  </a:cubicBezTo>
                  <a:lnTo>
                    <a:pt x="1541328" y="416221"/>
                  </a:lnTo>
                  <a:cubicBezTo>
                    <a:pt x="1541328" y="424475"/>
                    <a:pt x="1538049" y="432392"/>
                    <a:pt x="1532212" y="438228"/>
                  </a:cubicBezTo>
                  <a:cubicBezTo>
                    <a:pt x="1526376" y="444065"/>
                    <a:pt x="1518460" y="447344"/>
                    <a:pt x="1510206" y="447344"/>
                  </a:cubicBezTo>
                  <a:lnTo>
                    <a:pt x="31122" y="447344"/>
                  </a:lnTo>
                  <a:cubicBezTo>
                    <a:pt x="13934" y="447344"/>
                    <a:pt x="0" y="433410"/>
                    <a:pt x="0" y="416221"/>
                  </a:cubicBezTo>
                  <a:lnTo>
                    <a:pt x="0" y="31122"/>
                  </a:lnTo>
                  <a:cubicBezTo>
                    <a:pt x="0" y="13934"/>
                    <a:pt x="13934" y="0"/>
                    <a:pt x="31122" y="0"/>
                  </a:cubicBezTo>
                  <a:close/>
                </a:path>
              </a:pathLst>
            </a:custGeom>
            <a:blipFill>
              <a:blip r:embed="rId3"/>
              <a:stretch>
                <a:fillRect l="-34598" t="0" r="-34598" b="-51571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1107" y="80491"/>
            <a:ext cx="1668813" cy="1521848"/>
            <a:chOff x="0" y="0"/>
            <a:chExt cx="2444952" cy="22296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4952" cy="2229635"/>
            </a:xfrm>
            <a:custGeom>
              <a:avLst/>
              <a:gdLst/>
              <a:ahLst/>
              <a:cxnLst/>
              <a:rect r="r" b="b" t="t" l="l"/>
              <a:pathLst>
                <a:path h="2229635" w="2444952">
                  <a:moveTo>
                    <a:pt x="162371" y="0"/>
                  </a:moveTo>
                  <a:lnTo>
                    <a:pt x="2282581" y="0"/>
                  </a:lnTo>
                  <a:cubicBezTo>
                    <a:pt x="2372256" y="0"/>
                    <a:pt x="2444952" y="72696"/>
                    <a:pt x="2444952" y="162371"/>
                  </a:cubicBezTo>
                  <a:lnTo>
                    <a:pt x="2444952" y="2067264"/>
                  </a:lnTo>
                  <a:cubicBezTo>
                    <a:pt x="2444952" y="2156939"/>
                    <a:pt x="2372256" y="2229635"/>
                    <a:pt x="2282581" y="2229635"/>
                  </a:cubicBezTo>
                  <a:lnTo>
                    <a:pt x="162371" y="2229635"/>
                  </a:lnTo>
                  <a:cubicBezTo>
                    <a:pt x="72696" y="2229635"/>
                    <a:pt x="0" y="2156939"/>
                    <a:pt x="0" y="2067264"/>
                  </a:cubicBezTo>
                  <a:lnTo>
                    <a:pt x="0" y="162371"/>
                  </a:lnTo>
                  <a:cubicBezTo>
                    <a:pt x="0" y="72696"/>
                    <a:pt x="72696" y="0"/>
                    <a:pt x="16237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828" r="0" b="-4828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4" id="14"/>
          <p:cNvSpPr/>
          <p:nvPr/>
        </p:nvSpPr>
        <p:spPr>
          <a:xfrm flipH="true" flipV="true" rot="-10800000">
            <a:off x="1498626" y="80491"/>
            <a:ext cx="2137614" cy="1036494"/>
          </a:xfrm>
          <a:custGeom>
            <a:avLst/>
            <a:gdLst/>
            <a:ahLst/>
            <a:cxnLst/>
            <a:rect r="r" b="b" t="t" l="l"/>
            <a:pathLst>
              <a:path h="1036494" w="2137614">
                <a:moveTo>
                  <a:pt x="2137614" y="1036494"/>
                </a:moveTo>
                <a:lnTo>
                  <a:pt x="0" y="1036494"/>
                </a:lnTo>
                <a:lnTo>
                  <a:pt x="0" y="0"/>
                </a:lnTo>
                <a:lnTo>
                  <a:pt x="2137614" y="0"/>
                </a:lnTo>
                <a:lnTo>
                  <a:pt x="2137614" y="103649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V="true">
            <a:off x="2695198" y="796407"/>
            <a:ext cx="9956653" cy="9525"/>
          </a:xfrm>
          <a:prstGeom prst="line">
            <a:avLst/>
          </a:prstGeom>
          <a:ln cap="flat" w="38100">
            <a:solidFill>
              <a:srgbClr val="EBE5C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320" y="1299538"/>
            <a:ext cx="838168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EFC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Python for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4464" y="2605727"/>
            <a:ext cx="4872133" cy="733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7"/>
              </a:lnSpc>
            </a:pP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Python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add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th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 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dva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ce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ly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ic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di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on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hr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ugh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p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rogramm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ati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 proc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es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ing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l" marL="0" indent="0" lvl="0">
              <a:lnSpc>
                <a:spcPts val="3647"/>
              </a:lnSpc>
            </a:pP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or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Rol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</a:p>
          <a:p>
            <a:pPr algn="l" marL="656332" indent="-328166" lvl="1">
              <a:lnSpc>
                <a:spcPts val="3647"/>
              </a:lnSpc>
              <a:buFont typeface="Arial"/>
              <a:buChar char="•"/>
            </a:pP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ean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u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si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ng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ndas</a:t>
            </a:r>
          </a:p>
          <a:p>
            <a:pPr algn="l" marL="656332" indent="-328166" lvl="1">
              <a:lnSpc>
                <a:spcPts val="3647"/>
              </a:lnSpc>
              <a:buFont typeface="Arial"/>
              <a:buChar char="•"/>
            </a:pP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om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pu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tin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ti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tical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rel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tio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ships</a:t>
            </a:r>
          </a:p>
          <a:p>
            <a:pPr algn="l" marL="656332" indent="-328166" lvl="1">
              <a:lnSpc>
                <a:spcPts val="3647"/>
              </a:lnSpc>
              <a:buFont typeface="Arial"/>
              <a:buChar char="•"/>
            </a:pP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Buil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ding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p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edictive models</a:t>
            </a:r>
          </a:p>
          <a:p>
            <a:pPr algn="l" marL="656332" indent="-328166" lvl="1">
              <a:lnSpc>
                <a:spcPts val="3647"/>
              </a:lnSpc>
              <a:buFont typeface="Arial"/>
              <a:buChar char="•"/>
            </a:pP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Visualiz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ation with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tplotl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b</a:t>
            </a:r>
          </a:p>
          <a:p>
            <a:pPr algn="l" marL="656332" indent="-328166" lvl="1">
              <a:lnSpc>
                <a:spcPts val="3647"/>
              </a:lnSpc>
              <a:buFont typeface="Arial"/>
              <a:buChar char="•"/>
            </a:pP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Pr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cing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naly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ic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fig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ures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ha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supp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or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d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ci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3039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on-making</a:t>
            </a:r>
          </a:p>
          <a:p>
            <a:pPr algn="l" marL="0" indent="0" lvl="0">
              <a:lnSpc>
                <a:spcPts val="3647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5140902" y="2716409"/>
            <a:ext cx="4164428" cy="6615410"/>
            <a:chOff x="0" y="0"/>
            <a:chExt cx="1157694" cy="18390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7694" cy="1839058"/>
            </a:xfrm>
            <a:custGeom>
              <a:avLst/>
              <a:gdLst/>
              <a:ahLst/>
              <a:cxnLst/>
              <a:rect r="r" b="b" t="t" l="l"/>
              <a:pathLst>
                <a:path h="1839058" w="1157694">
                  <a:moveTo>
                    <a:pt x="65067" y="0"/>
                  </a:moveTo>
                  <a:lnTo>
                    <a:pt x="1092627" y="0"/>
                  </a:lnTo>
                  <a:cubicBezTo>
                    <a:pt x="1109884" y="0"/>
                    <a:pt x="1126434" y="6855"/>
                    <a:pt x="1138637" y="19058"/>
                  </a:cubicBezTo>
                  <a:cubicBezTo>
                    <a:pt x="1150839" y="31260"/>
                    <a:pt x="1157694" y="47810"/>
                    <a:pt x="1157694" y="65067"/>
                  </a:cubicBezTo>
                  <a:lnTo>
                    <a:pt x="1157694" y="1773990"/>
                  </a:lnTo>
                  <a:cubicBezTo>
                    <a:pt x="1157694" y="1791247"/>
                    <a:pt x="1150839" y="1807797"/>
                    <a:pt x="1138637" y="1820000"/>
                  </a:cubicBezTo>
                  <a:cubicBezTo>
                    <a:pt x="1126434" y="1832202"/>
                    <a:pt x="1109884" y="1839058"/>
                    <a:pt x="1092627" y="1839058"/>
                  </a:cubicBezTo>
                  <a:lnTo>
                    <a:pt x="65067" y="1839058"/>
                  </a:lnTo>
                  <a:cubicBezTo>
                    <a:pt x="47810" y="1839058"/>
                    <a:pt x="31260" y="1832202"/>
                    <a:pt x="19058" y="1820000"/>
                  </a:cubicBezTo>
                  <a:cubicBezTo>
                    <a:pt x="6855" y="1807797"/>
                    <a:pt x="0" y="1791247"/>
                    <a:pt x="0" y="1773990"/>
                  </a:cubicBezTo>
                  <a:lnTo>
                    <a:pt x="0" y="65067"/>
                  </a:lnTo>
                  <a:cubicBezTo>
                    <a:pt x="0" y="47810"/>
                    <a:pt x="6855" y="31260"/>
                    <a:pt x="19058" y="19058"/>
                  </a:cubicBezTo>
                  <a:cubicBezTo>
                    <a:pt x="31260" y="6855"/>
                    <a:pt x="47810" y="0"/>
                    <a:pt x="65067" y="0"/>
                  </a:cubicBezTo>
                  <a:close/>
                </a:path>
              </a:pathLst>
            </a:custGeom>
            <a:blipFill>
              <a:blip r:embed="rId2"/>
              <a:stretch>
                <a:fillRect l="-689" t="0" r="-689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486305" y="1360625"/>
            <a:ext cx="4175937" cy="6633693"/>
            <a:chOff x="0" y="0"/>
            <a:chExt cx="1157694" cy="18390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7694" cy="1839058"/>
            </a:xfrm>
            <a:custGeom>
              <a:avLst/>
              <a:gdLst/>
              <a:ahLst/>
              <a:cxnLst/>
              <a:rect r="r" b="b" t="t" l="l"/>
              <a:pathLst>
                <a:path h="1839058" w="1157694">
                  <a:moveTo>
                    <a:pt x="64888" y="0"/>
                  </a:moveTo>
                  <a:lnTo>
                    <a:pt x="1092807" y="0"/>
                  </a:lnTo>
                  <a:cubicBezTo>
                    <a:pt x="1128643" y="0"/>
                    <a:pt x="1157694" y="29051"/>
                    <a:pt x="1157694" y="64888"/>
                  </a:cubicBezTo>
                  <a:lnTo>
                    <a:pt x="1157694" y="1774170"/>
                  </a:lnTo>
                  <a:cubicBezTo>
                    <a:pt x="1157694" y="1810006"/>
                    <a:pt x="1128643" y="1839058"/>
                    <a:pt x="1092807" y="1839058"/>
                  </a:cubicBezTo>
                  <a:lnTo>
                    <a:pt x="64888" y="1839058"/>
                  </a:lnTo>
                  <a:cubicBezTo>
                    <a:pt x="29051" y="1839058"/>
                    <a:pt x="0" y="1810006"/>
                    <a:pt x="0" y="1774170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blipFill>
              <a:blip r:embed="rId3"/>
              <a:stretch>
                <a:fillRect l="-3433" t="0" r="-3433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929292" y="0"/>
            <a:ext cx="3990115" cy="10287000"/>
            <a:chOff x="0" y="0"/>
            <a:chExt cx="1050894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08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50894">
                  <a:moveTo>
                    <a:pt x="194027" y="0"/>
                  </a:moveTo>
                  <a:lnTo>
                    <a:pt x="856867" y="0"/>
                  </a:lnTo>
                  <a:cubicBezTo>
                    <a:pt x="964025" y="0"/>
                    <a:pt x="1050894" y="86869"/>
                    <a:pt x="1050894" y="194027"/>
                  </a:cubicBezTo>
                  <a:lnTo>
                    <a:pt x="1050894" y="2515306"/>
                  </a:lnTo>
                  <a:cubicBezTo>
                    <a:pt x="1050894" y="2566765"/>
                    <a:pt x="1030452" y="2616117"/>
                    <a:pt x="994065" y="2652504"/>
                  </a:cubicBezTo>
                  <a:cubicBezTo>
                    <a:pt x="957678" y="2688891"/>
                    <a:pt x="908326" y="2709333"/>
                    <a:pt x="856867" y="2709333"/>
                  </a:cubicBezTo>
                  <a:lnTo>
                    <a:pt x="194027" y="2709333"/>
                  </a:lnTo>
                  <a:cubicBezTo>
                    <a:pt x="86869" y="2709333"/>
                    <a:pt x="0" y="2622464"/>
                    <a:pt x="0" y="2515306"/>
                  </a:cubicBezTo>
                  <a:lnTo>
                    <a:pt x="0" y="194027"/>
                  </a:lnTo>
                  <a:cubicBezTo>
                    <a:pt x="0" y="86869"/>
                    <a:pt x="86869" y="0"/>
                    <a:pt x="194027" y="0"/>
                  </a:cubicBezTo>
                  <a:close/>
                </a:path>
              </a:pathLst>
            </a:custGeom>
            <a:solidFill>
              <a:srgbClr val="A134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050894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847523" y="2107024"/>
            <a:ext cx="4216846" cy="7834180"/>
            <a:chOff x="0" y="0"/>
            <a:chExt cx="1157694" cy="21507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7694" cy="2150799"/>
            </a:xfrm>
            <a:custGeom>
              <a:avLst/>
              <a:gdLst/>
              <a:ahLst/>
              <a:cxnLst/>
              <a:rect r="r" b="b" t="t" l="l"/>
              <a:pathLst>
                <a:path h="2150799" w="1157694">
                  <a:moveTo>
                    <a:pt x="64258" y="0"/>
                  </a:moveTo>
                  <a:lnTo>
                    <a:pt x="1093436" y="0"/>
                  </a:lnTo>
                  <a:cubicBezTo>
                    <a:pt x="1110478" y="0"/>
                    <a:pt x="1126823" y="6770"/>
                    <a:pt x="1138874" y="18821"/>
                  </a:cubicBezTo>
                  <a:cubicBezTo>
                    <a:pt x="1150924" y="30872"/>
                    <a:pt x="1157694" y="47216"/>
                    <a:pt x="1157694" y="64258"/>
                  </a:cubicBezTo>
                  <a:lnTo>
                    <a:pt x="1157694" y="2086540"/>
                  </a:lnTo>
                  <a:cubicBezTo>
                    <a:pt x="1157694" y="2103583"/>
                    <a:pt x="1150924" y="2119927"/>
                    <a:pt x="1138874" y="2131978"/>
                  </a:cubicBezTo>
                  <a:cubicBezTo>
                    <a:pt x="1126823" y="2144028"/>
                    <a:pt x="1110478" y="2150799"/>
                    <a:pt x="1093436" y="2150799"/>
                  </a:cubicBezTo>
                  <a:lnTo>
                    <a:pt x="64258" y="2150799"/>
                  </a:lnTo>
                  <a:cubicBezTo>
                    <a:pt x="47216" y="2150799"/>
                    <a:pt x="30872" y="2144028"/>
                    <a:pt x="18821" y="2131978"/>
                  </a:cubicBezTo>
                  <a:cubicBezTo>
                    <a:pt x="6770" y="2119927"/>
                    <a:pt x="0" y="2103583"/>
                    <a:pt x="0" y="2086540"/>
                  </a:cubicBezTo>
                  <a:lnTo>
                    <a:pt x="0" y="64258"/>
                  </a:lnTo>
                  <a:cubicBezTo>
                    <a:pt x="0" y="47216"/>
                    <a:pt x="6770" y="30872"/>
                    <a:pt x="18821" y="18821"/>
                  </a:cubicBezTo>
                  <a:cubicBezTo>
                    <a:pt x="30872" y="6770"/>
                    <a:pt x="47216" y="0"/>
                    <a:pt x="6425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" r="0" b="-7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1107" y="80491"/>
            <a:ext cx="1668813" cy="1521848"/>
            <a:chOff x="0" y="0"/>
            <a:chExt cx="2444952" cy="22296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44952" cy="2229635"/>
            </a:xfrm>
            <a:custGeom>
              <a:avLst/>
              <a:gdLst/>
              <a:ahLst/>
              <a:cxnLst/>
              <a:rect r="r" b="b" t="t" l="l"/>
              <a:pathLst>
                <a:path h="2229635" w="2444952">
                  <a:moveTo>
                    <a:pt x="162371" y="0"/>
                  </a:moveTo>
                  <a:lnTo>
                    <a:pt x="2282581" y="0"/>
                  </a:lnTo>
                  <a:cubicBezTo>
                    <a:pt x="2372256" y="0"/>
                    <a:pt x="2444952" y="72696"/>
                    <a:pt x="2444952" y="162371"/>
                  </a:cubicBezTo>
                  <a:lnTo>
                    <a:pt x="2444952" y="2067264"/>
                  </a:lnTo>
                  <a:cubicBezTo>
                    <a:pt x="2444952" y="2156939"/>
                    <a:pt x="2372256" y="2229635"/>
                    <a:pt x="2282581" y="2229635"/>
                  </a:cubicBezTo>
                  <a:lnTo>
                    <a:pt x="162371" y="2229635"/>
                  </a:lnTo>
                  <a:cubicBezTo>
                    <a:pt x="72696" y="2229635"/>
                    <a:pt x="0" y="2156939"/>
                    <a:pt x="0" y="2067264"/>
                  </a:cubicBezTo>
                  <a:lnTo>
                    <a:pt x="0" y="162371"/>
                  </a:lnTo>
                  <a:cubicBezTo>
                    <a:pt x="0" y="72696"/>
                    <a:pt x="72696" y="0"/>
                    <a:pt x="162371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828" r="0" b="-4828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6" id="16"/>
          <p:cNvSpPr/>
          <p:nvPr/>
        </p:nvSpPr>
        <p:spPr>
          <a:xfrm flipH="true" flipV="true" rot="-10800000">
            <a:off x="1498626" y="80491"/>
            <a:ext cx="2137614" cy="1036494"/>
          </a:xfrm>
          <a:custGeom>
            <a:avLst/>
            <a:gdLst/>
            <a:ahLst/>
            <a:cxnLst/>
            <a:rect r="r" b="b" t="t" l="l"/>
            <a:pathLst>
              <a:path h="1036494" w="2137614">
                <a:moveTo>
                  <a:pt x="2137614" y="1036494"/>
                </a:moveTo>
                <a:lnTo>
                  <a:pt x="0" y="1036494"/>
                </a:lnTo>
                <a:lnTo>
                  <a:pt x="0" y="0"/>
                </a:lnTo>
                <a:lnTo>
                  <a:pt x="2137614" y="0"/>
                </a:lnTo>
                <a:lnTo>
                  <a:pt x="2137614" y="10364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flipV="true">
            <a:off x="2695198" y="796407"/>
            <a:ext cx="9956653" cy="9525"/>
          </a:xfrm>
          <a:prstGeom prst="line">
            <a:avLst/>
          </a:prstGeom>
          <a:ln cap="flat" w="38100">
            <a:solidFill>
              <a:srgbClr val="EBE5C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161" y="1097528"/>
            <a:ext cx="8264405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EFC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Da</a:t>
            </a:r>
            <a:r>
              <a:rPr lang="en-US" sz="9600" spc="-192">
                <a:solidFill>
                  <a:srgbClr val="FEFC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ta Analysis Using SQL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9663" y="3827393"/>
            <a:ext cx="4313645" cy="506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Q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 p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ov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d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irect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acc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ss 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th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data source, validating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str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ur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an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d enablin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analyti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cal q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ueries.</a:t>
            </a:r>
          </a:p>
          <a:p>
            <a:pPr algn="l" marL="0" indent="0" lvl="0">
              <a:lnSpc>
                <a:spcPts val="2879"/>
              </a:lnSpc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Core Ro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Ex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racting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raw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data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Validating data types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Sampling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Performing aggregations and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KPI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Execut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ing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 que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rie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s supporting 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an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ly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ic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l o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b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j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cti</a:t>
            </a:r>
            <a:r>
              <a:rPr lang="en-US" sz="2400" strike="noStrike" u="none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</a:rPr>
              <a:t>ves</a:t>
            </a:r>
          </a:p>
          <a:p>
            <a:pPr algn="l" marL="0" indent="0" lvl="0">
              <a:lnSpc>
                <a:spcPts val="287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4929292" y="0"/>
            <a:ext cx="3990115" cy="10287000"/>
            <a:chOff x="0" y="0"/>
            <a:chExt cx="105089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08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50894">
                  <a:moveTo>
                    <a:pt x="194027" y="0"/>
                  </a:moveTo>
                  <a:lnTo>
                    <a:pt x="856867" y="0"/>
                  </a:lnTo>
                  <a:cubicBezTo>
                    <a:pt x="964025" y="0"/>
                    <a:pt x="1050894" y="86869"/>
                    <a:pt x="1050894" y="194027"/>
                  </a:cubicBezTo>
                  <a:lnTo>
                    <a:pt x="1050894" y="2515306"/>
                  </a:lnTo>
                  <a:cubicBezTo>
                    <a:pt x="1050894" y="2566765"/>
                    <a:pt x="1030452" y="2616117"/>
                    <a:pt x="994065" y="2652504"/>
                  </a:cubicBezTo>
                  <a:cubicBezTo>
                    <a:pt x="957678" y="2688891"/>
                    <a:pt x="908326" y="2709333"/>
                    <a:pt x="856867" y="2709333"/>
                  </a:cubicBezTo>
                  <a:lnTo>
                    <a:pt x="194027" y="2709333"/>
                  </a:lnTo>
                  <a:cubicBezTo>
                    <a:pt x="86869" y="2709333"/>
                    <a:pt x="0" y="2622464"/>
                    <a:pt x="0" y="2515306"/>
                  </a:cubicBezTo>
                  <a:lnTo>
                    <a:pt x="0" y="194027"/>
                  </a:lnTo>
                  <a:cubicBezTo>
                    <a:pt x="0" y="86869"/>
                    <a:pt x="86869" y="0"/>
                    <a:pt x="194027" y="0"/>
                  </a:cubicBezTo>
                  <a:close/>
                </a:path>
              </a:pathLst>
            </a:custGeom>
            <a:solidFill>
              <a:srgbClr val="A134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050894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003920" y="1826653"/>
            <a:ext cx="4175937" cy="6633693"/>
            <a:chOff x="0" y="0"/>
            <a:chExt cx="1157694" cy="18390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7694" cy="1839058"/>
            </a:xfrm>
            <a:custGeom>
              <a:avLst/>
              <a:gdLst/>
              <a:ahLst/>
              <a:cxnLst/>
              <a:rect r="r" b="b" t="t" l="l"/>
              <a:pathLst>
                <a:path h="1839058" w="1157694">
                  <a:moveTo>
                    <a:pt x="64888" y="0"/>
                  </a:moveTo>
                  <a:lnTo>
                    <a:pt x="1092807" y="0"/>
                  </a:lnTo>
                  <a:cubicBezTo>
                    <a:pt x="1128643" y="0"/>
                    <a:pt x="1157694" y="29051"/>
                    <a:pt x="1157694" y="64888"/>
                  </a:cubicBezTo>
                  <a:lnTo>
                    <a:pt x="1157694" y="1774170"/>
                  </a:lnTo>
                  <a:cubicBezTo>
                    <a:pt x="1157694" y="1810006"/>
                    <a:pt x="1128643" y="1839058"/>
                    <a:pt x="1092807" y="1839058"/>
                  </a:cubicBezTo>
                  <a:lnTo>
                    <a:pt x="64888" y="1839058"/>
                  </a:lnTo>
                  <a:cubicBezTo>
                    <a:pt x="29051" y="1839058"/>
                    <a:pt x="0" y="1810006"/>
                    <a:pt x="0" y="1774170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blipFill>
              <a:blip r:embed="rId2"/>
              <a:stretch>
                <a:fillRect l="-14264" t="0" r="-14264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715110" y="1189326"/>
            <a:ext cx="4175937" cy="6390371"/>
            <a:chOff x="0" y="0"/>
            <a:chExt cx="1157694" cy="17716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7694" cy="1771601"/>
            </a:xfrm>
            <a:custGeom>
              <a:avLst/>
              <a:gdLst/>
              <a:ahLst/>
              <a:cxnLst/>
              <a:rect r="r" b="b" t="t" l="l"/>
              <a:pathLst>
                <a:path h="1771601" w="1157694">
                  <a:moveTo>
                    <a:pt x="64888" y="0"/>
                  </a:moveTo>
                  <a:lnTo>
                    <a:pt x="1092807" y="0"/>
                  </a:lnTo>
                  <a:cubicBezTo>
                    <a:pt x="1128643" y="0"/>
                    <a:pt x="1157694" y="29051"/>
                    <a:pt x="1157694" y="64888"/>
                  </a:cubicBezTo>
                  <a:lnTo>
                    <a:pt x="1157694" y="1706714"/>
                  </a:lnTo>
                  <a:cubicBezTo>
                    <a:pt x="1157694" y="1742550"/>
                    <a:pt x="1128643" y="1771601"/>
                    <a:pt x="1092807" y="1771601"/>
                  </a:cubicBezTo>
                  <a:lnTo>
                    <a:pt x="64888" y="1771601"/>
                  </a:lnTo>
                  <a:cubicBezTo>
                    <a:pt x="29051" y="1771601"/>
                    <a:pt x="0" y="1742550"/>
                    <a:pt x="0" y="1706714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blipFill>
              <a:blip r:embed="rId3"/>
              <a:stretch>
                <a:fillRect l="-3420" t="0" r="-3420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320097" y="2446488"/>
            <a:ext cx="4175937" cy="6633693"/>
            <a:chOff x="0" y="0"/>
            <a:chExt cx="1157694" cy="18390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7694" cy="1839058"/>
            </a:xfrm>
            <a:custGeom>
              <a:avLst/>
              <a:gdLst/>
              <a:ahLst/>
              <a:cxnLst/>
              <a:rect r="r" b="b" t="t" l="l"/>
              <a:pathLst>
                <a:path h="1839058" w="1157694">
                  <a:moveTo>
                    <a:pt x="64888" y="0"/>
                  </a:moveTo>
                  <a:lnTo>
                    <a:pt x="1092807" y="0"/>
                  </a:lnTo>
                  <a:cubicBezTo>
                    <a:pt x="1128643" y="0"/>
                    <a:pt x="1157694" y="29051"/>
                    <a:pt x="1157694" y="64888"/>
                  </a:cubicBezTo>
                  <a:lnTo>
                    <a:pt x="1157694" y="1774170"/>
                  </a:lnTo>
                  <a:cubicBezTo>
                    <a:pt x="1157694" y="1810006"/>
                    <a:pt x="1128643" y="1839058"/>
                    <a:pt x="1092807" y="1839058"/>
                  </a:cubicBezTo>
                  <a:lnTo>
                    <a:pt x="64888" y="1839058"/>
                  </a:lnTo>
                  <a:cubicBezTo>
                    <a:pt x="29051" y="1839058"/>
                    <a:pt x="0" y="1810006"/>
                    <a:pt x="0" y="1774170"/>
                  </a:cubicBezTo>
                  <a:lnTo>
                    <a:pt x="0" y="64888"/>
                  </a:lnTo>
                  <a:cubicBezTo>
                    <a:pt x="0" y="29051"/>
                    <a:pt x="29051" y="0"/>
                    <a:pt x="6488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-4917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1107" y="80491"/>
            <a:ext cx="1668813" cy="1521848"/>
            <a:chOff x="0" y="0"/>
            <a:chExt cx="2444952" cy="22296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44952" cy="2229635"/>
            </a:xfrm>
            <a:custGeom>
              <a:avLst/>
              <a:gdLst/>
              <a:ahLst/>
              <a:cxnLst/>
              <a:rect r="r" b="b" t="t" l="l"/>
              <a:pathLst>
                <a:path h="2229635" w="2444952">
                  <a:moveTo>
                    <a:pt x="162371" y="0"/>
                  </a:moveTo>
                  <a:lnTo>
                    <a:pt x="2282581" y="0"/>
                  </a:lnTo>
                  <a:cubicBezTo>
                    <a:pt x="2372256" y="0"/>
                    <a:pt x="2444952" y="72696"/>
                    <a:pt x="2444952" y="162371"/>
                  </a:cubicBezTo>
                  <a:lnTo>
                    <a:pt x="2444952" y="2067264"/>
                  </a:lnTo>
                  <a:cubicBezTo>
                    <a:pt x="2444952" y="2156939"/>
                    <a:pt x="2372256" y="2229635"/>
                    <a:pt x="2282581" y="2229635"/>
                  </a:cubicBezTo>
                  <a:lnTo>
                    <a:pt x="162371" y="2229635"/>
                  </a:lnTo>
                  <a:cubicBezTo>
                    <a:pt x="72696" y="2229635"/>
                    <a:pt x="0" y="2156939"/>
                    <a:pt x="0" y="2067264"/>
                  </a:cubicBezTo>
                  <a:lnTo>
                    <a:pt x="0" y="162371"/>
                  </a:lnTo>
                  <a:cubicBezTo>
                    <a:pt x="0" y="72696"/>
                    <a:pt x="72696" y="0"/>
                    <a:pt x="162371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828" r="0" b="-4828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6" id="16"/>
          <p:cNvSpPr/>
          <p:nvPr/>
        </p:nvSpPr>
        <p:spPr>
          <a:xfrm flipH="true" flipV="true" rot="-10800000">
            <a:off x="1498626" y="80491"/>
            <a:ext cx="2137614" cy="1036494"/>
          </a:xfrm>
          <a:custGeom>
            <a:avLst/>
            <a:gdLst/>
            <a:ahLst/>
            <a:cxnLst/>
            <a:rect r="r" b="b" t="t" l="l"/>
            <a:pathLst>
              <a:path h="1036494" w="2137614">
                <a:moveTo>
                  <a:pt x="2137614" y="1036494"/>
                </a:moveTo>
                <a:lnTo>
                  <a:pt x="0" y="1036494"/>
                </a:lnTo>
                <a:lnTo>
                  <a:pt x="0" y="0"/>
                </a:lnTo>
                <a:lnTo>
                  <a:pt x="2137614" y="0"/>
                </a:lnTo>
                <a:lnTo>
                  <a:pt x="2137614" y="10364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flipV="true">
            <a:off x="2695198" y="796407"/>
            <a:ext cx="9956653" cy="9525"/>
          </a:xfrm>
          <a:prstGeom prst="line">
            <a:avLst/>
          </a:prstGeom>
          <a:ln cap="flat" w="38100">
            <a:solidFill>
              <a:srgbClr val="EBE5C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9100" y="3048000"/>
            <a:ext cx="10553700" cy="6210300"/>
            <a:chOff x="0" y="0"/>
            <a:chExt cx="14071600" cy="8280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3843604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y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sul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227996" y="558800"/>
              <a:ext cx="13843604" cy="7721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Financial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nsights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cy adm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ssio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costs are 2.8× hi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her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lar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admi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ions.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Top-p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for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ming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hospit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ls/s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tes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era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68% of total revenue.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nificant va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ation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 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ily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osts between ch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nic and acute ca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nal In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ights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Chronic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pat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ents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st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ay 52% longe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on av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ge.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Predictive ana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 ide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tifi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peak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perio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s,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opt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izing wo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kf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llo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ation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Highlights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rtme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ts with highest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ratio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al re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onsumption.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Clini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 Insigh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valence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 Diabe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 and COPD.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Smok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ing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ated w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 40% higher med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ical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bills.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 differe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len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of stay an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osts by 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ease type and sever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ty.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tal 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ct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Data-dr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vem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could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av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$4.2 –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$7.8 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annu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ly fo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 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dium-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iz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 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spital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  <a:p>
              <a:pPr algn="l" marL="0" indent="0" lvl="0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68743" y="2712461"/>
            <a:ext cx="8431486" cy="8395258"/>
            <a:chOff x="0" y="0"/>
            <a:chExt cx="2220638" cy="2211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0638" cy="2211097"/>
            </a:xfrm>
            <a:custGeom>
              <a:avLst/>
              <a:gdLst/>
              <a:ahLst/>
              <a:cxnLst/>
              <a:rect r="r" b="b" t="t" l="l"/>
              <a:pathLst>
                <a:path h="2211097" w="2220638">
                  <a:moveTo>
                    <a:pt x="63357" y="0"/>
                  </a:moveTo>
                  <a:lnTo>
                    <a:pt x="2157282" y="0"/>
                  </a:lnTo>
                  <a:cubicBezTo>
                    <a:pt x="2192272" y="0"/>
                    <a:pt x="2220638" y="28366"/>
                    <a:pt x="2220638" y="63357"/>
                  </a:cubicBezTo>
                  <a:lnTo>
                    <a:pt x="2220638" y="2147740"/>
                  </a:lnTo>
                  <a:cubicBezTo>
                    <a:pt x="2220638" y="2182731"/>
                    <a:pt x="2192272" y="2211097"/>
                    <a:pt x="2157282" y="2211097"/>
                  </a:cubicBezTo>
                  <a:lnTo>
                    <a:pt x="63357" y="2211097"/>
                  </a:lnTo>
                  <a:cubicBezTo>
                    <a:pt x="28366" y="2211097"/>
                    <a:pt x="0" y="2182731"/>
                    <a:pt x="0" y="2147740"/>
                  </a:cubicBezTo>
                  <a:lnTo>
                    <a:pt x="0" y="63357"/>
                  </a:lnTo>
                  <a:cubicBezTo>
                    <a:pt x="0" y="28366"/>
                    <a:pt x="28366" y="0"/>
                    <a:pt x="63357" y="0"/>
                  </a:cubicBezTo>
                  <a:close/>
                </a:path>
              </a:pathLst>
            </a:custGeom>
            <a:solidFill>
              <a:srgbClr val="A134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20638" cy="228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01425" y="3048000"/>
            <a:ext cx="6886575" cy="6572250"/>
            <a:chOff x="0" y="0"/>
            <a:chExt cx="9182100" cy="87630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Execu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ti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ve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Recomme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dat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o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</a:t>
              </a:r>
              <a:r>
                <a:rPr lang="en-US" b="true" sz="2799" strike="noStrike" u="none">
                  <a:solidFill>
                    <a:srgbClr val="FEFC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58800"/>
              <a:ext cx="9182100" cy="820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 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sease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grams – Tar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et 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h-risk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tes/reg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 us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ing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Table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and clinical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pattern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rengthening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Emerg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cy Re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– Incr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ase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ff &amp;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equip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ment during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ak perio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(Po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er BI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For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).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Anti-Smoking &amp; Ob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Campaigns – Py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n-based 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ls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show ROI &gt; 300%.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ardizing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ons &amp; KPIs – Use Excel/Power BI templat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 fo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 consi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nt f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ancial &amp; clinical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indic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tors.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Continuous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ring 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atform – 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opt th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ytical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platf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for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mon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ly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oper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al &amp;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ministr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ive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decisi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supp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rt.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lot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Projects – St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sm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ll,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 b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ed on f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eld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ts and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das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ard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nsight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s.</a:t>
              </a:r>
            </a:p>
            <a:p>
              <a:pPr algn="l" marL="0" indent="0" lvl="0">
                <a:lnSpc>
                  <a:spcPts val="28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9100" y="1442461"/>
            <a:ext cx="17868900" cy="127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0"/>
              </a:lnSpc>
            </a:pPr>
            <a:r>
              <a:rPr lang="en-US" sz="9500" spc="-190">
                <a:solidFill>
                  <a:srgbClr val="FEFC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Results &amp; </a:t>
            </a:r>
            <a:r>
              <a:rPr lang="en-US" sz="9500" spc="-190">
                <a:solidFill>
                  <a:srgbClr val="FEFC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Executive Recommendations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81107" y="80491"/>
            <a:ext cx="1668813" cy="1521848"/>
            <a:chOff x="0" y="0"/>
            <a:chExt cx="2444952" cy="22296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4952" cy="2229635"/>
            </a:xfrm>
            <a:custGeom>
              <a:avLst/>
              <a:gdLst/>
              <a:ahLst/>
              <a:cxnLst/>
              <a:rect r="r" b="b" t="t" l="l"/>
              <a:pathLst>
                <a:path h="2229635" w="2444952">
                  <a:moveTo>
                    <a:pt x="162371" y="0"/>
                  </a:moveTo>
                  <a:lnTo>
                    <a:pt x="2282581" y="0"/>
                  </a:lnTo>
                  <a:cubicBezTo>
                    <a:pt x="2372256" y="0"/>
                    <a:pt x="2444952" y="72696"/>
                    <a:pt x="2444952" y="162371"/>
                  </a:cubicBezTo>
                  <a:lnTo>
                    <a:pt x="2444952" y="2067264"/>
                  </a:lnTo>
                  <a:cubicBezTo>
                    <a:pt x="2444952" y="2156939"/>
                    <a:pt x="2372256" y="2229635"/>
                    <a:pt x="2282581" y="2229635"/>
                  </a:cubicBezTo>
                  <a:lnTo>
                    <a:pt x="162371" y="2229635"/>
                  </a:lnTo>
                  <a:cubicBezTo>
                    <a:pt x="72696" y="2229635"/>
                    <a:pt x="0" y="2156939"/>
                    <a:pt x="0" y="2067264"/>
                  </a:cubicBezTo>
                  <a:lnTo>
                    <a:pt x="0" y="162371"/>
                  </a:lnTo>
                  <a:cubicBezTo>
                    <a:pt x="0" y="72696"/>
                    <a:pt x="72696" y="0"/>
                    <a:pt x="16237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828" r="0" b="-4828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5" id="15"/>
          <p:cNvSpPr/>
          <p:nvPr/>
        </p:nvSpPr>
        <p:spPr>
          <a:xfrm flipH="true" flipV="true" rot="-10800000">
            <a:off x="1498626" y="80491"/>
            <a:ext cx="2137614" cy="1036494"/>
          </a:xfrm>
          <a:custGeom>
            <a:avLst/>
            <a:gdLst/>
            <a:ahLst/>
            <a:cxnLst/>
            <a:rect r="r" b="b" t="t" l="l"/>
            <a:pathLst>
              <a:path h="1036494" w="2137614">
                <a:moveTo>
                  <a:pt x="2137614" y="1036494"/>
                </a:moveTo>
                <a:lnTo>
                  <a:pt x="0" y="1036494"/>
                </a:lnTo>
                <a:lnTo>
                  <a:pt x="0" y="0"/>
                </a:lnTo>
                <a:lnTo>
                  <a:pt x="2137614" y="0"/>
                </a:lnTo>
                <a:lnTo>
                  <a:pt x="2137614" y="103649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2695198" y="796407"/>
            <a:ext cx="9956653" cy="9525"/>
          </a:xfrm>
          <a:prstGeom prst="line">
            <a:avLst/>
          </a:prstGeom>
          <a:ln cap="flat" w="38100">
            <a:solidFill>
              <a:srgbClr val="EBE5C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7214" y="1116985"/>
            <a:ext cx="10320683" cy="7701715"/>
            <a:chOff x="0" y="0"/>
            <a:chExt cx="13760910" cy="1026895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8145467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FEFCF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Conclusion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42453" y="2064753"/>
              <a:ext cx="13418457" cy="820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This project represents a practical and integrated model for healthcare data analysis, starting from data cleaning and preparation to building advanced analytical dashboards.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analy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is demonstrated the power of data in: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✔ Enhancing the quality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of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healthcare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✔ Reducing operational co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ts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✔ 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upporting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medical and admini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strat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iv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decision-makin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 wi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 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curacy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✔ Strength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ening governanc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and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mproving ho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tal efficie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cy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✔ 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founda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tion for a fu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ly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rated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digital health system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Than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k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 the integration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of Exce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Power BI, 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bleau, P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and SQL,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the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data was trans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formed from raw numbers in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trategi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 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ol that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suppor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Egypti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 hea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 sys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 and al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with the nation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al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dig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ital health transformation vision.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 summar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: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This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project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 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more tha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 just an analysis—it's a meaningful step toward building a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smart, connected, and efficient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healthcare ecosystem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that serves citizens and supports the sustainability of the health sector</a:t>
              </a:r>
              <a:r>
                <a:rPr lang="en-US" sz="2400" strike="noStrike" u="none">
                  <a:solidFill>
                    <a:srgbClr val="FEFC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29292" y="0"/>
            <a:ext cx="3990115" cy="10287000"/>
            <a:chOff x="0" y="0"/>
            <a:chExt cx="105089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08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50894">
                  <a:moveTo>
                    <a:pt x="194027" y="0"/>
                  </a:moveTo>
                  <a:lnTo>
                    <a:pt x="856867" y="0"/>
                  </a:lnTo>
                  <a:cubicBezTo>
                    <a:pt x="964025" y="0"/>
                    <a:pt x="1050894" y="86869"/>
                    <a:pt x="1050894" y="194027"/>
                  </a:cubicBezTo>
                  <a:lnTo>
                    <a:pt x="1050894" y="2515306"/>
                  </a:lnTo>
                  <a:cubicBezTo>
                    <a:pt x="1050894" y="2566765"/>
                    <a:pt x="1030452" y="2616117"/>
                    <a:pt x="994065" y="2652504"/>
                  </a:cubicBezTo>
                  <a:cubicBezTo>
                    <a:pt x="957678" y="2688891"/>
                    <a:pt x="908326" y="2709333"/>
                    <a:pt x="856867" y="2709333"/>
                  </a:cubicBezTo>
                  <a:lnTo>
                    <a:pt x="194027" y="2709333"/>
                  </a:lnTo>
                  <a:cubicBezTo>
                    <a:pt x="86869" y="2709333"/>
                    <a:pt x="0" y="2622464"/>
                    <a:pt x="0" y="2515306"/>
                  </a:cubicBezTo>
                  <a:lnTo>
                    <a:pt x="0" y="194027"/>
                  </a:lnTo>
                  <a:cubicBezTo>
                    <a:pt x="0" y="86869"/>
                    <a:pt x="86869" y="0"/>
                    <a:pt x="194027" y="0"/>
                  </a:cubicBezTo>
                  <a:close/>
                </a:path>
              </a:pathLst>
            </a:custGeom>
            <a:solidFill>
              <a:srgbClr val="A134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050894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9629775"/>
            <a:ext cx="1265185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983997" y="1912943"/>
            <a:ext cx="5548656" cy="5345107"/>
            <a:chOff x="0" y="0"/>
            <a:chExt cx="2223779" cy="2142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3779" cy="2142201"/>
            </a:xfrm>
            <a:custGeom>
              <a:avLst/>
              <a:gdLst/>
              <a:ahLst/>
              <a:cxnLst/>
              <a:rect r="r" b="b" t="t" l="l"/>
              <a:pathLst>
                <a:path h="2142201" w="2223779">
                  <a:moveTo>
                    <a:pt x="48835" y="0"/>
                  </a:moveTo>
                  <a:lnTo>
                    <a:pt x="2174945" y="0"/>
                  </a:lnTo>
                  <a:cubicBezTo>
                    <a:pt x="2187896" y="0"/>
                    <a:pt x="2200318" y="5145"/>
                    <a:pt x="2209476" y="14303"/>
                  </a:cubicBezTo>
                  <a:cubicBezTo>
                    <a:pt x="2218634" y="23462"/>
                    <a:pt x="2223779" y="35883"/>
                    <a:pt x="2223779" y="48835"/>
                  </a:cubicBezTo>
                  <a:lnTo>
                    <a:pt x="2223779" y="2093366"/>
                  </a:lnTo>
                  <a:cubicBezTo>
                    <a:pt x="2223779" y="2120337"/>
                    <a:pt x="2201915" y="2142201"/>
                    <a:pt x="2174945" y="2142201"/>
                  </a:cubicBezTo>
                  <a:lnTo>
                    <a:pt x="48835" y="2142201"/>
                  </a:lnTo>
                  <a:cubicBezTo>
                    <a:pt x="21864" y="2142201"/>
                    <a:pt x="0" y="2120337"/>
                    <a:pt x="0" y="2093366"/>
                  </a:cubicBezTo>
                  <a:lnTo>
                    <a:pt x="0" y="48835"/>
                  </a:lnTo>
                  <a:cubicBezTo>
                    <a:pt x="0" y="21864"/>
                    <a:pt x="21864" y="0"/>
                    <a:pt x="4883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04" r="0" b="-1904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1757077" cy="1602339"/>
            <a:chOff x="0" y="0"/>
            <a:chExt cx="2444952" cy="22296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4952" cy="2229635"/>
            </a:xfrm>
            <a:custGeom>
              <a:avLst/>
              <a:gdLst/>
              <a:ahLst/>
              <a:cxnLst/>
              <a:rect r="r" b="b" t="t" l="l"/>
              <a:pathLst>
                <a:path h="2229635" w="2444952">
                  <a:moveTo>
                    <a:pt x="154215" y="0"/>
                  </a:moveTo>
                  <a:lnTo>
                    <a:pt x="2290737" y="0"/>
                  </a:lnTo>
                  <a:cubicBezTo>
                    <a:pt x="2375908" y="0"/>
                    <a:pt x="2444952" y="69044"/>
                    <a:pt x="2444952" y="154215"/>
                  </a:cubicBezTo>
                  <a:lnTo>
                    <a:pt x="2444952" y="2075421"/>
                  </a:lnTo>
                  <a:cubicBezTo>
                    <a:pt x="2444952" y="2160591"/>
                    <a:pt x="2375908" y="2229635"/>
                    <a:pt x="2290737" y="2229635"/>
                  </a:cubicBezTo>
                  <a:lnTo>
                    <a:pt x="154215" y="2229635"/>
                  </a:lnTo>
                  <a:cubicBezTo>
                    <a:pt x="69044" y="2229635"/>
                    <a:pt x="0" y="2160591"/>
                    <a:pt x="0" y="2075421"/>
                  </a:cubicBezTo>
                  <a:lnTo>
                    <a:pt x="0" y="154215"/>
                  </a:lnTo>
                  <a:cubicBezTo>
                    <a:pt x="0" y="69044"/>
                    <a:pt x="69044" y="0"/>
                    <a:pt x="15421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828" r="0" b="-4828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3" id="13"/>
          <p:cNvSpPr/>
          <p:nvPr/>
        </p:nvSpPr>
        <p:spPr>
          <a:xfrm flipH="true" flipV="true" rot="-10800000">
            <a:off x="1498626" y="80491"/>
            <a:ext cx="2137614" cy="1036494"/>
          </a:xfrm>
          <a:custGeom>
            <a:avLst/>
            <a:gdLst/>
            <a:ahLst/>
            <a:cxnLst/>
            <a:rect r="r" b="b" t="t" l="l"/>
            <a:pathLst>
              <a:path h="1036494" w="2137614">
                <a:moveTo>
                  <a:pt x="2137614" y="1036494"/>
                </a:moveTo>
                <a:lnTo>
                  <a:pt x="0" y="1036494"/>
                </a:lnTo>
                <a:lnTo>
                  <a:pt x="0" y="0"/>
                </a:lnTo>
                <a:lnTo>
                  <a:pt x="2137614" y="0"/>
                </a:lnTo>
                <a:lnTo>
                  <a:pt x="2137614" y="103649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flipV="true">
            <a:off x="2695198" y="796407"/>
            <a:ext cx="9956653" cy="9525"/>
          </a:xfrm>
          <a:prstGeom prst="line">
            <a:avLst/>
          </a:prstGeom>
          <a:ln cap="flat" w="38100">
            <a:solidFill>
              <a:srgbClr val="EBE5C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2651851" y="7595547"/>
            <a:ext cx="829956" cy="829956"/>
          </a:xfrm>
          <a:custGeom>
            <a:avLst/>
            <a:gdLst/>
            <a:ahLst/>
            <a:cxnLst/>
            <a:rect r="r" b="b" t="t" l="l"/>
            <a:pathLst>
              <a:path h="829956" w="829956">
                <a:moveTo>
                  <a:pt x="0" y="0"/>
                </a:moveTo>
                <a:lnTo>
                  <a:pt x="829956" y="0"/>
                </a:lnTo>
                <a:lnTo>
                  <a:pt x="829956" y="829956"/>
                </a:lnTo>
                <a:lnTo>
                  <a:pt x="0" y="829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774806" y="7829550"/>
            <a:ext cx="340338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 u="sng">
                <a:solidFill>
                  <a:srgbClr val="FEFCF8"/>
                </a:solidFill>
                <a:latin typeface="HK Grotesk"/>
                <a:ea typeface="HK Grotesk"/>
                <a:cs typeface="HK Grotesk"/>
                <a:sym typeface="HK Grotesk"/>
                <a:hlinkClick r:id="rId8" tooltip="https://github.com/mustafa777mustafa/Healthcare-Data-Analysis-Project"/>
              </a:rPr>
              <a:t>github//HealthOps 360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DAG67l7XAxk</dc:identifier>
  <dcterms:modified xsi:type="dcterms:W3CDTF">2011-08-01T06:04:30Z</dcterms:modified>
  <cp:revision>1</cp:revision>
  <dc:title>HealthOps 360</dc:title>
</cp:coreProperties>
</file>